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2"/>
  </p:sld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</p:sldIdLst>
  <p:sldSz cx="13333333" cy="7500000" type="wide"/>
  <p:notesSz cx="6858000" cy="9144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" Target="slides/slide1.xml"/><Relationship Id="rId2" Type="http://schemas.openxmlformats.org/officeDocument/2006/relationships/slide" Target="slides/slide2.xml"/><Relationship Id="rId3" Type="http://schemas.openxmlformats.org/officeDocument/2006/relationships/slide" Target="slides/slide3.xml"/><Relationship Id="rId4" Type="http://schemas.openxmlformats.org/officeDocument/2006/relationships/slide" Target="slides/slide4.xml"/><Relationship Id="rId5" Type="http://schemas.openxmlformats.org/officeDocument/2006/relationships/slide" Target="slides/slide5.xml"/><Relationship Id="rId6" Type="http://schemas.openxmlformats.org/officeDocument/2006/relationships/slide" Target="slides/slide6.xml"/><Relationship Id="rId7" Type="http://schemas.openxmlformats.org/officeDocument/2006/relationships/slide" Target="slides/slide7.xml"/><Relationship Id="rId8" Type="http://schemas.openxmlformats.org/officeDocument/2006/relationships/slide" Target="slides/slide8.xml"/><Relationship Id="rId9" Type="http://schemas.openxmlformats.org/officeDocument/2006/relationships/slide" Target="slides/slide9.xml"/><Relationship Id="rId10" Type="http://schemas.openxmlformats.org/officeDocument/2006/relationships/slide" Target="slides/slide10.xml"/><Relationship Id="rId11" Type="http://schemas.openxmlformats.org/officeDocument/2006/relationships/slide" Target="slides/slide11.xml"/><Relationship Id="rId12" Type="http://schemas.openxmlformats.org/officeDocument/2006/relationships/slideMaster" Target="slideMasters/slideMaster1.xml"/><Relationship Id="rId13" Type="http://schemas.openxmlformats.org/officeDocument/2006/relationships/theme" Target="theme/theme1.xml"/></Relationships>
</file>

<file path=ppt/slideLayouts/_rels/slideLayout1.xml.rels><?xml version="1.0" encoding="UTF-8" standalone="yes"?><Relationships xmlns="http://schemas.openxmlformats.org/package/2006/relationships"/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hape"/>
          <p:cNvSpPr/>
          <p:nvPr/>
        </p:nvSpPr>
        <p:spPr>
          <a:xfrm>
            <a:off x="0" y="0"/>
            <a:ext cx="13333333" cy="7500000"/>
          </a:xfrm>
          <a:prstGeom prst="rect">
            <a:avLst/>
          </a:prstGeom>
          <a:solidFill>
            <a:srgbClr val="123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Shape"/>
          <p:cNvSpPr/>
          <p:nvPr/>
        </p:nvSpPr>
        <p:spPr>
          <a:xfrm>
            <a:off x="8850000" y="0"/>
            <a:ext cx="4483333" cy="7500000"/>
          </a:xfrm>
          <a:prstGeom prst="rect">
            <a:avLst/>
          </a:prstGeom>
          <a:solidFill>
            <a:srgbClr val="1B7F5C"/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Shape"/>
          <p:cNvSpPr/>
          <p:nvPr/>
        </p:nvSpPr>
        <p:spPr>
          <a:xfrm>
            <a:off x="9240000" y="650000"/>
            <a:ext cx="2700000" cy="2700000"/>
          </a:xfrm>
          <a:prstGeom prst="ellipse">
            <a:avLst/>
          </a:prstGeom>
          <a:solidFill>
            <a:srgbClr val="B6E388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Shape"/>
          <p:cNvSpPr/>
          <p:nvPr/>
        </p:nvSpPr>
        <p:spPr>
          <a:xfrm>
            <a:off x="9850000" y="1250000"/>
            <a:ext cx="1500000" cy="1500000"/>
          </a:xfrm>
          <a:prstGeom prst="ellipse">
            <a:avLst/>
          </a:prstGeom>
          <a:solidFill>
            <a:srgbClr val="123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15" name="Text"/>
          <p:cNvSpPr txBox="1"/>
          <p:nvPr/>
        </p:nvSpPr>
        <p:spPr>
          <a:xfrm>
            <a:off x="620000" y="550000"/>
            <a:ext cx="4300000" cy="3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lang="es-BO" sz="1400" dirty="0">
                <a:b/>
                <a:solidFill>
                  <a:srgbClr val="B6E388"/>
                </a:solidFill>
                <a:latin typeface="Aptos"/>
              </a:rPr>
              <a:t>GREEN TECH PITCH</a:t>
            </a:r>
          </a:p>
        </p:txBody>
      </p:sp>
      <p:sp>
        <p:nvSpPr>
          <p:cNvPr id="16" name="Text"/>
          <p:cNvSpPr txBox="1"/>
          <p:nvPr/>
        </p:nvSpPr>
        <p:spPr>
          <a:xfrm>
            <a:off x="620000" y="1150000"/>
            <a:ext cx="6700000" cy="95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lang="es-BO" sz="5200" dirty="0">
                <a:b/>
                <a:solidFill>
                  <a:srgbClr val="FFFFFF"/>
                </a:solidFill>
                <a:latin typeface="Aptos"/>
              </a:rPr>
              <a:t>EcoBrief Bolivia</a:t>
            </a:r>
          </a:p>
        </p:txBody>
      </p:sp>
      <p:sp>
        <p:nvSpPr>
          <p:cNvPr id="17" name="Text"/>
          <p:cNvSpPr txBox="1"/>
          <p:nvPr/>
        </p:nvSpPr>
        <p:spPr>
          <a:xfrm>
            <a:off x="630000" y="2160000"/>
            <a:ext cx="6500000" cy="7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lang="es-BO" sz="2500" dirty="0">
                <a:solidFill>
                  <a:srgbClr val="DDF6E8"/>
                </a:solidFill>
                <a:latin typeface="Aptos"/>
              </a:rPr>
              <a:t>IA responsable para reducir desperdicio digital informativo</a:t>
            </a:r>
          </a:p>
        </p:txBody>
      </p:sp>
      <p:sp>
        <p:nvSpPr>
          <p:cNvPr id="18" name="Shape"/>
          <p:cNvSpPr/>
          <p:nvPr/>
        </p:nvSpPr>
        <p:spPr>
          <a:xfrm>
            <a:off x="660000" y="3352000"/>
            <a:ext cx="95000" cy="95000"/>
          </a:xfrm>
          <a:prstGeom prst="ellipse">
            <a:avLst/>
          </a:prstGeom>
          <a:solidFill>
            <a:srgbClr val="1B7F5C"/>
          </a:solidFill>
          <a:ln>
            <a:noFill/>
          </a:ln>
        </p:spPr>
        <p:txBody>
          <a:bodyPr/>
          <a:lstStyle/>
          <a:p/>
        </p:txBody>
      </p:sp>
      <p:sp>
        <p:nvSpPr>
          <p:cNvPr id="19" name="Text"/>
          <p:cNvSpPr txBox="1"/>
          <p:nvPr/>
        </p:nvSpPr>
        <p:spPr>
          <a:xfrm>
            <a:off x="815000" y="3300000"/>
            <a:ext cx="5745000" cy="26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lang="es-BO" sz="2150" dirty="0">
                <a:solidFill>
                  <a:srgbClr val="FFFFFF"/>
                </a:solidFill>
                <a:latin typeface="Aptos"/>
              </a:rPr>
              <a:t>Menos paginas abiertas</a:t>
            </a:r>
          </a:p>
        </p:txBody>
      </p:sp>
      <p:sp>
        <p:nvSpPr>
          <p:cNvPr id="20" name="Shape"/>
          <p:cNvSpPr/>
          <p:nvPr/>
        </p:nvSpPr>
        <p:spPr>
          <a:xfrm>
            <a:off x="660000" y="3737000"/>
            <a:ext cx="95000" cy="95000"/>
          </a:xfrm>
          <a:prstGeom prst="ellipse">
            <a:avLst/>
          </a:prstGeom>
          <a:solidFill>
            <a:srgbClr val="1B7F5C"/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Text"/>
          <p:cNvSpPr txBox="1"/>
          <p:nvPr/>
        </p:nvSpPr>
        <p:spPr>
          <a:xfrm>
            <a:off x="815000" y="3685000"/>
            <a:ext cx="5745000" cy="26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lang="es-BO" sz="2150" dirty="0">
                <a:solidFill>
                  <a:srgbClr val="FFFFFF"/>
                </a:solidFill>
                <a:latin typeface="Aptos"/>
              </a:rPr>
              <a:t>Menos noticias duplicadas</a:t>
            </a:r>
          </a:p>
        </p:txBody>
      </p:sp>
      <p:sp>
        <p:nvSpPr>
          <p:cNvPr id="22" name="Shape"/>
          <p:cNvSpPr/>
          <p:nvPr/>
        </p:nvSpPr>
        <p:spPr>
          <a:xfrm>
            <a:off x="660000" y="4122000"/>
            <a:ext cx="95000" cy="95000"/>
          </a:xfrm>
          <a:prstGeom prst="ellipse">
            <a:avLst/>
          </a:prstGeom>
          <a:solidFill>
            <a:srgbClr val="1B7F5C"/>
          </a:solidFill>
          <a:ln>
            <a:noFill/>
          </a:ln>
        </p:spPr>
        <p:txBody>
          <a:bodyPr/>
          <a:lstStyle/>
          <a:p/>
        </p:txBody>
      </p:sp>
      <p:sp>
        <p:nvSpPr>
          <p:cNvPr id="23" name="Text"/>
          <p:cNvSpPr txBox="1"/>
          <p:nvPr/>
        </p:nvSpPr>
        <p:spPr>
          <a:xfrm>
            <a:off x="815000" y="4070000"/>
            <a:ext cx="5745000" cy="26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lang="es-BO" sz="2150" dirty="0">
                <a:solidFill>
                  <a:srgbClr val="FFFFFF"/>
                </a:solidFill>
                <a:latin typeface="Aptos"/>
              </a:rPr>
              <a:t>Menos llamadas IA innecesarias</a:t>
            </a:r>
          </a:p>
        </p:txBody>
      </p:sp>
      <p:sp>
        <p:nvSpPr>
          <p:cNvPr id="24" name="Shape"/>
          <p:cNvSpPr/>
          <p:nvPr/>
        </p:nvSpPr>
        <p:spPr>
          <a:xfrm>
            <a:off x="660000" y="4507000"/>
            <a:ext cx="95000" cy="95000"/>
          </a:xfrm>
          <a:prstGeom prst="ellipse">
            <a:avLst/>
          </a:prstGeom>
          <a:solidFill>
            <a:srgbClr val="1B7F5C"/>
          </a:solidFill>
          <a:ln>
            <a:noFill/>
          </a:ln>
        </p:spPr>
        <p:txBody>
          <a:bodyPr/>
          <a:lstStyle/>
          <a:p/>
        </p:txBody>
      </p:sp>
      <p:sp>
        <p:nvSpPr>
          <p:cNvPr id="25" name="Text"/>
          <p:cNvSpPr txBox="1"/>
          <p:nvPr/>
        </p:nvSpPr>
        <p:spPr>
          <a:xfrm>
            <a:off x="815000" y="4455000"/>
            <a:ext cx="5745000" cy="26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lang="es-BO" sz="2150" dirty="0">
                <a:solidFill>
                  <a:srgbClr val="FFFFFF"/>
                </a:solidFill>
                <a:latin typeface="Aptos"/>
              </a:rPr>
              <a:t>Mas informacion util y medible</a:t>
            </a:r>
          </a:p>
        </p:txBody>
      </p:sp>
      <p:sp>
        <p:nvSpPr>
          <p:cNvPr id="26" name="Text"/>
          <p:cNvSpPr txBox="1"/>
          <p:nvPr/>
        </p:nvSpPr>
        <p:spPr>
          <a:xfrm>
            <a:off x="620000" y="6780000"/>
            <a:ext cx="7000000" cy="26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lang="es-BO" sz="1550" dirty="0">
                <a:solidFill>
                  <a:srgbClr val="DDF6E8"/>
                </a:solidFill>
                <a:latin typeface="Aptos"/>
              </a:rPr>
              <a:t>Josoe Ichuta, Ingenieria  |  Raquel Auza, Digital-Academy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hape"/>
          <p:cNvSpPr/>
          <p:nvPr/>
        </p:nvSpPr>
        <p:spPr>
          <a:xfrm>
            <a:off x="0" y="0"/>
            <a:ext cx="13333333" cy="7500000"/>
          </a:xfrm>
          <a:prstGeom prst="rect">
            <a:avLst/>
          </a:prstGeom>
          <a:solidFill>
            <a:srgbClr val="F7F4EA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Shape"/>
          <p:cNvSpPr/>
          <p:nvPr/>
        </p:nvSpPr>
        <p:spPr>
          <a:xfrm>
            <a:off x="0" y="0"/>
            <a:ext cx="245000" cy="7500000"/>
          </a:xfrm>
          <a:prstGeom prst="rect">
            <a:avLst/>
          </a:prstGeom>
          <a:solidFill>
            <a:srgbClr val="1B7F5C"/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Text"/>
          <p:cNvSpPr txBox="1"/>
          <p:nvPr/>
        </p:nvSpPr>
        <p:spPr>
          <a:xfrm>
            <a:off x="620000" y="410000"/>
            <a:ext cx="3600000" cy="26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lang="es-BO" sz="1350" dirty="0">
                <a:b/>
                <a:solidFill>
                  <a:srgbClr val="1B7F5C"/>
                </a:solidFill>
                <a:latin typeface="Aptos"/>
              </a:rPr>
              <a:t>PROBLEMA</a:t>
            </a:r>
          </a:p>
        </p:txBody>
      </p:sp>
      <p:sp>
        <p:nvSpPr>
          <p:cNvPr id="14" name="Text"/>
          <p:cNvSpPr txBox="1"/>
          <p:nvPr/>
        </p:nvSpPr>
        <p:spPr>
          <a:xfrm>
            <a:off x="620000" y="760000"/>
            <a:ext cx="8250000" cy="126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lang="es-BO" sz="3450" dirty="0">
                <a:b/>
                <a:solidFill>
                  <a:srgbClr val="12372A"/>
                </a:solidFill>
                <a:latin typeface="Aptos"/>
              </a:rPr>
              <a:t>Informarse consume mas recursos de los necesarios</a:t>
            </a:r>
          </a:p>
        </p:txBody>
      </p:sp>
      <p:sp>
        <p:nvSpPr>
          <p:cNvPr id="15" name="Text"/>
          <p:cNvSpPr txBox="1"/>
          <p:nvPr/>
        </p:nvSpPr>
        <p:spPr>
          <a:xfrm>
            <a:off x="630000" y="2140000"/>
            <a:ext cx="8350000" cy="62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lang="es-BO" sz="1850" dirty="0">
                <a:solidFill>
                  <a:srgbClr val="56635C"/>
                </a:solidFill>
                <a:latin typeface="Aptos"/>
              </a:rPr>
              <a:t>El problema no es falta de informacion. Es exceso de informacion redundante.</a:t>
            </a:r>
          </a:p>
        </p:txBody>
      </p:sp>
      <p:sp>
        <p:nvSpPr>
          <p:cNvPr id="16" name="Shape"/>
          <p:cNvSpPr/>
          <p:nvPr/>
        </p:nvSpPr>
        <p:spPr>
          <a:xfrm>
            <a:off x="770000" y="3082000"/>
            <a:ext cx="95000" cy="95000"/>
          </a:xfrm>
          <a:prstGeom prst="ellipse">
            <a:avLst/>
          </a:prstGeom>
          <a:solidFill>
            <a:srgbClr val="1B7F5C"/>
          </a:solidFill>
          <a:ln>
            <a:noFill/>
          </a:ln>
        </p:spPr>
        <p:txBody>
          <a:bodyPr/>
          <a:lstStyle/>
          <a:p/>
        </p:txBody>
      </p:sp>
      <p:sp>
        <p:nvSpPr>
          <p:cNvPr id="17" name="Text"/>
          <p:cNvSpPr txBox="1"/>
          <p:nvPr/>
        </p:nvSpPr>
        <p:spPr>
          <a:xfrm>
            <a:off x="925000" y="3030000"/>
            <a:ext cx="6695000" cy="26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lang="es-BO" sz="2150" dirty="0">
                <a:solidFill>
                  <a:srgbClr val="17211B"/>
                </a:solidFill>
                <a:latin typeface="Aptos"/>
              </a:rPr>
              <a:t>Una misma historia se repite en varios medios.</a:t>
            </a:r>
          </a:p>
        </p:txBody>
      </p:sp>
      <p:sp>
        <p:nvSpPr>
          <p:cNvPr id="18" name="Shape"/>
          <p:cNvSpPr/>
          <p:nvPr/>
        </p:nvSpPr>
        <p:spPr>
          <a:xfrm>
            <a:off x="770000" y="3467000"/>
            <a:ext cx="95000" cy="95000"/>
          </a:xfrm>
          <a:prstGeom prst="ellipse">
            <a:avLst/>
          </a:prstGeom>
          <a:solidFill>
            <a:srgbClr val="1B7F5C"/>
          </a:solidFill>
          <a:ln>
            <a:noFill/>
          </a:ln>
        </p:spPr>
        <p:txBody>
          <a:bodyPr/>
          <a:lstStyle/>
          <a:p/>
        </p:txBody>
      </p:sp>
      <p:sp>
        <p:nvSpPr>
          <p:cNvPr id="19" name="Text"/>
          <p:cNvSpPr txBox="1"/>
          <p:nvPr/>
        </p:nvSpPr>
        <p:spPr>
          <a:xfrm>
            <a:off x="925000" y="3415000"/>
            <a:ext cx="6695000" cy="26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lang="es-BO" sz="2150" dirty="0">
                <a:solidFill>
                  <a:srgbClr val="17211B"/>
                </a:solidFill>
                <a:latin typeface="Aptos"/>
              </a:rPr>
              <a:t>El usuario abre multiples paginas para entender un hecho.</a:t>
            </a:r>
          </a:p>
        </p:txBody>
      </p:sp>
      <p:sp>
        <p:nvSpPr>
          <p:cNvPr id="20" name="Shape"/>
          <p:cNvSpPr/>
          <p:nvPr/>
        </p:nvSpPr>
        <p:spPr>
          <a:xfrm>
            <a:off x="770000" y="3852000"/>
            <a:ext cx="95000" cy="95000"/>
          </a:xfrm>
          <a:prstGeom prst="ellipse">
            <a:avLst/>
          </a:prstGeom>
          <a:solidFill>
            <a:srgbClr val="1B7F5C"/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Text"/>
          <p:cNvSpPr txBox="1"/>
          <p:nvPr/>
        </p:nvSpPr>
        <p:spPr>
          <a:xfrm>
            <a:off x="925000" y="3800000"/>
            <a:ext cx="6695000" cy="26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lang="es-BO" sz="2150" dirty="0">
                <a:solidFill>
                  <a:srgbClr val="17211B"/>
                </a:solidFill>
                <a:latin typeface="Aptos"/>
              </a:rPr>
              <a:t>Muchas personas buscan contexto en TikTok, Facebook u otros feeds.</a:t>
            </a:r>
          </a:p>
        </p:txBody>
      </p:sp>
      <p:sp>
        <p:nvSpPr>
          <p:cNvPr id="22" name="Shape"/>
          <p:cNvSpPr/>
          <p:nvPr/>
        </p:nvSpPr>
        <p:spPr>
          <a:xfrm>
            <a:off x="770000" y="4237000"/>
            <a:ext cx="95000" cy="95000"/>
          </a:xfrm>
          <a:prstGeom prst="ellipse">
            <a:avLst/>
          </a:prstGeom>
          <a:solidFill>
            <a:srgbClr val="1B7F5C"/>
          </a:solidFill>
          <a:ln>
            <a:noFill/>
          </a:ln>
        </p:spPr>
        <p:txBody>
          <a:bodyPr/>
          <a:lstStyle/>
          <a:p/>
        </p:txBody>
      </p:sp>
      <p:sp>
        <p:nvSpPr>
          <p:cNvPr id="23" name="Text"/>
          <p:cNvSpPr txBox="1"/>
          <p:nvPr/>
        </p:nvSpPr>
        <p:spPr>
          <a:xfrm>
            <a:off x="925000" y="4185000"/>
            <a:ext cx="6695000" cy="26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lang="es-BO" sz="2150" dirty="0">
                <a:solidFill>
                  <a:srgbClr val="17211B"/>
                </a:solidFill>
                <a:latin typeface="Aptos"/>
              </a:rPr>
              <a:t>En redes, la informacion puede aparecer fragmentada o sin fuente clara.</a:t>
            </a:r>
          </a:p>
        </p:txBody>
      </p:sp>
      <p:sp>
        <p:nvSpPr>
          <p:cNvPr id="24" name="Shape"/>
          <p:cNvSpPr/>
          <p:nvPr/>
        </p:nvSpPr>
        <p:spPr>
          <a:xfrm>
            <a:off x="770000" y="4622000"/>
            <a:ext cx="95000" cy="95000"/>
          </a:xfrm>
          <a:prstGeom prst="ellipse">
            <a:avLst/>
          </a:prstGeom>
          <a:solidFill>
            <a:srgbClr val="1B7F5C"/>
          </a:solidFill>
          <a:ln>
            <a:noFill/>
          </a:ln>
        </p:spPr>
        <p:txBody>
          <a:bodyPr/>
          <a:lstStyle/>
          <a:p/>
        </p:txBody>
      </p:sp>
      <p:sp>
        <p:nvSpPr>
          <p:cNvPr id="25" name="Text"/>
          <p:cNvSpPr txBox="1"/>
          <p:nvPr/>
        </p:nvSpPr>
        <p:spPr>
          <a:xfrm>
            <a:off x="925000" y="4570000"/>
            <a:ext cx="6695000" cy="26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lang="es-BO" sz="2150" dirty="0">
                <a:solidFill>
                  <a:srgbClr val="17211B"/>
                </a:solidFill>
                <a:latin typeface="Aptos"/>
              </a:rPr>
              <a:t>Cada pagina carga imagenes, scripts, publicidad y trackers.</a:t>
            </a:r>
          </a:p>
        </p:txBody>
      </p:sp>
      <p:sp>
        <p:nvSpPr>
          <p:cNvPr id="26" name="Shape"/>
          <p:cNvSpPr/>
          <p:nvPr/>
        </p:nvSpPr>
        <p:spPr>
          <a:xfrm>
            <a:off x="770000" y="5007000"/>
            <a:ext cx="95000" cy="95000"/>
          </a:xfrm>
          <a:prstGeom prst="ellipse">
            <a:avLst/>
          </a:prstGeom>
          <a:solidFill>
            <a:srgbClr val="1B7F5C"/>
          </a:solidFill>
          <a:ln>
            <a:noFill/>
          </a:ln>
        </p:spPr>
        <p:txBody>
          <a:bodyPr/>
          <a:lstStyle/>
          <a:p/>
        </p:txBody>
      </p:sp>
      <p:sp>
        <p:nvSpPr>
          <p:cNvPr id="27" name="Text"/>
          <p:cNvSpPr txBox="1"/>
          <p:nvPr/>
        </p:nvSpPr>
        <p:spPr>
          <a:xfrm>
            <a:off x="925000" y="4955000"/>
            <a:ext cx="6695000" cy="26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lang="es-BO" sz="2150" dirty="0">
                <a:solidFill>
                  <a:srgbClr val="17211B"/>
                </a:solidFill>
                <a:latin typeface="Aptos"/>
              </a:rPr>
              <a:t>La IA desperdicia tokens si procesa contenido repetido.</a:t>
            </a:r>
          </a:p>
        </p:txBody>
      </p:sp>
      <p:sp>
        <p:nvSpPr>
          <p:cNvPr id="28" name="Shape"/>
          <p:cNvSpPr/>
          <p:nvPr/>
        </p:nvSpPr>
        <p:spPr>
          <a:xfrm>
            <a:off x="8500000" y="5140000"/>
            <a:ext cx="3900000" cy="1150000"/>
          </a:xfrm>
          <a:prstGeom prst="roundRect">
            <a:avLst/>
          </a:prstGeom>
          <a:solidFill>
            <a:srgbClr val="123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29" name="Text"/>
          <p:cNvSpPr txBox="1"/>
          <p:nvPr/>
        </p:nvSpPr>
        <p:spPr>
          <a:xfrm>
            <a:off x="8790000" y="5400000"/>
            <a:ext cx="3320000" cy="54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"/>
            <a:r>
              <a:rPr lang="es-BO" sz="1950" dirty="0">
                <a:b/>
                <a:solidFill>
                  <a:srgbClr val="FFFFFF"/>
                </a:solidFill>
                <a:latin typeface="Aptos"/>
              </a:rPr>
              <a:t>Green Tech tambien es usar mejor software, datos, IA y cloud.</a:t>
            </a:r>
          </a:p>
        </p:txBody>
      </p:sp>
      <p:sp>
        <p:nvSpPr>
          <p:cNvPr id="30" name="Text"/>
          <p:cNvSpPr txBox="1"/>
          <p:nvPr/>
        </p:nvSpPr>
        <p:spPr>
          <a:xfrm>
            <a:off x="11940000" y="6930000"/>
            <a:ext cx="720000" cy="22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lang="es-BO" sz="1300" dirty="0">
                <a:b/>
                <a:solidFill>
                  <a:srgbClr val="1B7F5C"/>
                </a:solidFill>
                <a:latin typeface="Aptos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hape"/>
          <p:cNvSpPr/>
          <p:nvPr/>
        </p:nvSpPr>
        <p:spPr>
          <a:xfrm>
            <a:off x="0" y="0"/>
            <a:ext cx="13333333" cy="7500000"/>
          </a:xfrm>
          <a:prstGeom prst="rect">
            <a:avLst/>
          </a:prstGeom>
          <a:solidFill>
            <a:srgbClr val="F7F4EA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Shape"/>
          <p:cNvSpPr/>
          <p:nvPr/>
        </p:nvSpPr>
        <p:spPr>
          <a:xfrm>
            <a:off x="0" y="0"/>
            <a:ext cx="245000" cy="7500000"/>
          </a:xfrm>
          <a:prstGeom prst="rect">
            <a:avLst/>
          </a:prstGeom>
          <a:solidFill>
            <a:srgbClr val="1B7F5C"/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Text"/>
          <p:cNvSpPr txBox="1"/>
          <p:nvPr/>
        </p:nvSpPr>
        <p:spPr>
          <a:xfrm>
            <a:off x="620000" y="410000"/>
            <a:ext cx="3600000" cy="26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lang="es-BO" sz="1350" dirty="0">
                <a:b/>
                <a:solidFill>
                  <a:srgbClr val="1B7F5C"/>
                </a:solidFill>
                <a:latin typeface="Aptos"/>
              </a:rPr>
              <a:t>OPORTUNIDAD</a:t>
            </a:r>
          </a:p>
        </p:txBody>
      </p:sp>
      <p:sp>
        <p:nvSpPr>
          <p:cNvPr id="14" name="Text"/>
          <p:cNvSpPr txBox="1"/>
          <p:nvPr/>
        </p:nvSpPr>
        <p:spPr>
          <a:xfrm>
            <a:off x="620000" y="760000"/>
            <a:ext cx="8250000" cy="126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lang="es-BO" sz="3450" dirty="0">
                <a:b/>
                <a:solidFill>
                  <a:srgbClr val="12372A"/>
                </a:solidFill>
                <a:latin typeface="Aptos"/>
              </a:rPr>
              <a:t>De ruido digital a informacion esencial</a:t>
            </a:r>
          </a:p>
        </p:txBody>
      </p:sp>
      <p:sp>
        <p:nvSpPr>
          <p:cNvPr id="15" name="Text"/>
          <p:cNvSpPr txBox="1"/>
          <p:nvPr/>
        </p:nvSpPr>
        <p:spPr>
          <a:xfrm>
            <a:off x="630000" y="2140000"/>
            <a:ext cx="8350000" cy="62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lang="es-BO" sz="1850" dirty="0">
                <a:solidFill>
                  <a:srgbClr val="56635C"/>
                </a:solidFill>
                <a:latin typeface="Aptos"/>
              </a:rPr>
              <a:t>EcoBrief crea una capa de eficiencia entre los medios locales y las personas.</a:t>
            </a:r>
          </a:p>
        </p:txBody>
      </p:sp>
      <p:sp>
        <p:nvSpPr>
          <p:cNvPr id="16" name="Shape"/>
          <p:cNvSpPr/>
          <p:nvPr/>
        </p:nvSpPr>
        <p:spPr>
          <a:xfrm>
            <a:off x="820000" y="3030000"/>
            <a:ext cx="4950000" cy="3220000"/>
          </a:xfrm>
          <a:prstGeom prst="roundRect">
            <a:avLst/>
          </a:prstGeom>
          <a:solidFill>
            <a:srgbClr val="FFFFFF"/>
          </a:solidFill>
          <a:ln w="10000">
            <a:solidFill>
              <a:srgbClr val="DDF6E8"/>
            </a:solidFill>
          </a:ln>
        </p:spPr>
        <p:txBody>
          <a:bodyPr/>
          <a:lstStyle/>
          <a:p/>
        </p:txBody>
      </p:sp>
      <p:sp>
        <p:nvSpPr>
          <p:cNvPr id="17" name="Text"/>
          <p:cNvSpPr txBox="1"/>
          <p:nvPr/>
        </p:nvSpPr>
        <p:spPr>
          <a:xfrm>
            <a:off x="1080000" y="3260000"/>
            <a:ext cx="4430000" cy="34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lang="es-BO" sz="2200" dirty="0">
                <a:b/>
                <a:solidFill>
                  <a:srgbClr val="1B7F5C"/>
                </a:solidFill>
                <a:latin typeface="Aptos"/>
              </a:rPr>
              <a:t>Antes</a:t>
            </a:r>
          </a:p>
        </p:txBody>
      </p:sp>
      <p:sp>
        <p:nvSpPr>
          <p:cNvPr id="18" name="Shape"/>
          <p:cNvSpPr/>
          <p:nvPr/>
        </p:nvSpPr>
        <p:spPr>
          <a:xfrm>
            <a:off x="1120000" y="3802000"/>
            <a:ext cx="95000" cy="95000"/>
          </a:xfrm>
          <a:prstGeom prst="ellipse">
            <a:avLst/>
          </a:prstGeom>
          <a:solidFill>
            <a:srgbClr val="1B7F5C"/>
          </a:solidFill>
          <a:ln>
            <a:noFill/>
          </a:ln>
        </p:spPr>
        <p:txBody>
          <a:bodyPr/>
          <a:lstStyle/>
          <a:p/>
        </p:txBody>
      </p:sp>
      <p:sp>
        <p:nvSpPr>
          <p:cNvPr id="19" name="Text"/>
          <p:cNvSpPr txBox="1"/>
          <p:nvPr/>
        </p:nvSpPr>
        <p:spPr>
          <a:xfrm>
            <a:off x="1275000" y="3750000"/>
            <a:ext cx="4215000" cy="26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lang="es-BO" sz="2150" dirty="0">
                <a:solidFill>
                  <a:srgbClr val="17211B"/>
                </a:solidFill>
                <a:latin typeface="Aptos"/>
              </a:rPr>
              <a:t>Muchas paginas</a:t>
            </a:r>
          </a:p>
        </p:txBody>
      </p:sp>
      <p:sp>
        <p:nvSpPr>
          <p:cNvPr id="20" name="Shape"/>
          <p:cNvSpPr/>
          <p:nvPr/>
        </p:nvSpPr>
        <p:spPr>
          <a:xfrm>
            <a:off x="1120000" y="4187000"/>
            <a:ext cx="95000" cy="95000"/>
          </a:xfrm>
          <a:prstGeom prst="ellipse">
            <a:avLst/>
          </a:prstGeom>
          <a:solidFill>
            <a:srgbClr val="1B7F5C"/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Text"/>
          <p:cNvSpPr txBox="1"/>
          <p:nvPr/>
        </p:nvSpPr>
        <p:spPr>
          <a:xfrm>
            <a:off x="1275000" y="4135000"/>
            <a:ext cx="4215000" cy="26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lang="es-BO" sz="2150" dirty="0">
                <a:solidFill>
                  <a:srgbClr val="17211B"/>
                </a:solidFill>
                <a:latin typeface="Aptos"/>
              </a:rPr>
              <a:t>Noticias repetidas</a:t>
            </a:r>
          </a:p>
        </p:txBody>
      </p:sp>
      <p:sp>
        <p:nvSpPr>
          <p:cNvPr id="22" name="Shape"/>
          <p:cNvSpPr/>
          <p:nvPr/>
        </p:nvSpPr>
        <p:spPr>
          <a:xfrm>
            <a:off x="1120000" y="4572000"/>
            <a:ext cx="95000" cy="95000"/>
          </a:xfrm>
          <a:prstGeom prst="ellipse">
            <a:avLst/>
          </a:prstGeom>
          <a:solidFill>
            <a:srgbClr val="1B7F5C"/>
          </a:solidFill>
          <a:ln>
            <a:noFill/>
          </a:ln>
        </p:spPr>
        <p:txBody>
          <a:bodyPr/>
          <a:lstStyle/>
          <a:p/>
        </p:txBody>
      </p:sp>
      <p:sp>
        <p:nvSpPr>
          <p:cNvPr id="23" name="Text"/>
          <p:cNvSpPr txBox="1"/>
          <p:nvPr/>
        </p:nvSpPr>
        <p:spPr>
          <a:xfrm>
            <a:off x="1275000" y="4520000"/>
            <a:ext cx="4215000" cy="26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lang="es-BO" sz="2150" dirty="0">
                <a:solidFill>
                  <a:srgbClr val="17211B"/>
                </a:solidFill>
                <a:latin typeface="Aptos"/>
              </a:rPr>
              <a:t>Scroll social</a:t>
            </a:r>
          </a:p>
        </p:txBody>
      </p:sp>
      <p:sp>
        <p:nvSpPr>
          <p:cNvPr id="24" name="Shape"/>
          <p:cNvSpPr/>
          <p:nvPr/>
        </p:nvSpPr>
        <p:spPr>
          <a:xfrm>
            <a:off x="1120000" y="4957000"/>
            <a:ext cx="95000" cy="95000"/>
          </a:xfrm>
          <a:prstGeom prst="ellipse">
            <a:avLst/>
          </a:prstGeom>
          <a:solidFill>
            <a:srgbClr val="1B7F5C"/>
          </a:solidFill>
          <a:ln>
            <a:noFill/>
          </a:ln>
        </p:spPr>
        <p:txBody>
          <a:bodyPr/>
          <a:lstStyle/>
          <a:p/>
        </p:txBody>
      </p:sp>
      <p:sp>
        <p:nvSpPr>
          <p:cNvPr id="25" name="Text"/>
          <p:cNvSpPr txBox="1"/>
          <p:nvPr/>
        </p:nvSpPr>
        <p:spPr>
          <a:xfrm>
            <a:off x="1275000" y="4905000"/>
            <a:ext cx="4215000" cy="26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lang="es-BO" sz="2150" dirty="0">
                <a:solidFill>
                  <a:srgbClr val="17211B"/>
                </a:solidFill>
                <a:latin typeface="Aptos"/>
              </a:rPr>
              <a:t>Impacto invisible</a:t>
            </a:r>
          </a:p>
        </p:txBody>
      </p:sp>
      <p:sp>
        <p:nvSpPr>
          <p:cNvPr id="26" name="Shape"/>
          <p:cNvSpPr/>
          <p:nvPr/>
        </p:nvSpPr>
        <p:spPr>
          <a:xfrm>
            <a:off x="6110000" y="3030000"/>
            <a:ext cx="4950000" cy="3220000"/>
          </a:xfrm>
          <a:prstGeom prst="roundRect">
            <a:avLst/>
          </a:prstGeom>
          <a:solidFill>
            <a:srgbClr val="FFFFFF"/>
          </a:solidFill>
          <a:ln w="10000">
            <a:solidFill>
              <a:srgbClr val="DDF6E8"/>
            </a:solidFill>
          </a:ln>
        </p:spPr>
        <p:txBody>
          <a:bodyPr/>
          <a:lstStyle/>
          <a:p/>
        </p:txBody>
      </p:sp>
      <p:sp>
        <p:nvSpPr>
          <p:cNvPr id="27" name="Text"/>
          <p:cNvSpPr txBox="1"/>
          <p:nvPr/>
        </p:nvSpPr>
        <p:spPr>
          <a:xfrm>
            <a:off x="6370000" y="3260000"/>
            <a:ext cx="4430000" cy="34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lang="es-BO" sz="2200" dirty="0">
                <a:b/>
                <a:solidFill>
                  <a:srgbClr val="1B7F5C"/>
                </a:solidFill>
                <a:latin typeface="Aptos"/>
              </a:rPr>
              <a:t>Con EcoBrief</a:t>
            </a:r>
          </a:p>
        </p:txBody>
      </p:sp>
      <p:sp>
        <p:nvSpPr>
          <p:cNvPr id="28" name="Shape"/>
          <p:cNvSpPr/>
          <p:nvPr/>
        </p:nvSpPr>
        <p:spPr>
          <a:xfrm>
            <a:off x="6410000" y="3802000"/>
            <a:ext cx="95000" cy="95000"/>
          </a:xfrm>
          <a:prstGeom prst="ellipse">
            <a:avLst/>
          </a:prstGeom>
          <a:solidFill>
            <a:srgbClr val="1B7F5C"/>
          </a:solidFill>
          <a:ln>
            <a:noFill/>
          </a:ln>
        </p:spPr>
        <p:txBody>
          <a:bodyPr/>
          <a:lstStyle/>
          <a:p/>
        </p:txBody>
      </p:sp>
      <p:sp>
        <p:nvSpPr>
          <p:cNvPr id="29" name="Text"/>
          <p:cNvSpPr txBox="1"/>
          <p:nvPr/>
        </p:nvSpPr>
        <p:spPr>
          <a:xfrm>
            <a:off x="6565000" y="3750000"/>
            <a:ext cx="4215000" cy="26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lang="es-BO" sz="2150" dirty="0">
                <a:solidFill>
                  <a:srgbClr val="17211B"/>
                </a:solidFill>
                <a:latin typeface="Aptos"/>
              </a:rPr>
              <a:t>Un brief priorizado</a:t>
            </a:r>
          </a:p>
        </p:txBody>
      </p:sp>
      <p:sp>
        <p:nvSpPr>
          <p:cNvPr id="30" name="Shape"/>
          <p:cNvSpPr/>
          <p:nvPr/>
        </p:nvSpPr>
        <p:spPr>
          <a:xfrm>
            <a:off x="6410000" y="4187000"/>
            <a:ext cx="95000" cy="95000"/>
          </a:xfrm>
          <a:prstGeom prst="ellipse">
            <a:avLst/>
          </a:prstGeom>
          <a:solidFill>
            <a:srgbClr val="1B7F5C"/>
          </a:solidFill>
          <a:ln>
            <a:noFill/>
          </a:ln>
        </p:spPr>
        <p:txBody>
          <a:bodyPr/>
          <a:lstStyle/>
          <a:p/>
        </p:txBody>
      </p:sp>
      <p:sp>
        <p:nvSpPr>
          <p:cNvPr id="31" name="Text"/>
          <p:cNvSpPr txBox="1"/>
          <p:nvPr/>
        </p:nvSpPr>
        <p:spPr>
          <a:xfrm>
            <a:off x="6565000" y="4135000"/>
            <a:ext cx="4215000" cy="26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lang="es-BO" sz="2150" dirty="0">
                <a:solidFill>
                  <a:srgbClr val="17211B"/>
                </a:solidFill>
                <a:latin typeface="Aptos"/>
              </a:rPr>
              <a:t>Historias unicas</a:t>
            </a:r>
          </a:p>
        </p:txBody>
      </p:sp>
      <p:sp>
        <p:nvSpPr>
          <p:cNvPr id="32" name="Shape"/>
          <p:cNvSpPr/>
          <p:nvPr/>
        </p:nvSpPr>
        <p:spPr>
          <a:xfrm>
            <a:off x="6410000" y="4572000"/>
            <a:ext cx="95000" cy="95000"/>
          </a:xfrm>
          <a:prstGeom prst="ellipse">
            <a:avLst/>
          </a:prstGeom>
          <a:solidFill>
            <a:srgbClr val="1B7F5C"/>
          </a:solidFill>
          <a:ln>
            <a:noFill/>
          </a:ln>
        </p:spPr>
        <p:txBody>
          <a:bodyPr/>
          <a:lstStyle/>
          <a:p/>
        </p:txBody>
      </p:sp>
      <p:sp>
        <p:nvSpPr>
          <p:cNvPr id="33" name="Text"/>
          <p:cNvSpPr txBox="1"/>
          <p:nvPr/>
        </p:nvSpPr>
        <p:spPr>
          <a:xfrm>
            <a:off x="6565000" y="4520000"/>
            <a:ext cx="4215000" cy="26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lang="es-BO" sz="2150" dirty="0">
                <a:solidFill>
                  <a:srgbClr val="17211B"/>
                </a:solidFill>
                <a:latin typeface="Aptos"/>
              </a:rPr>
              <a:t>Fuentes trazables</a:t>
            </a:r>
          </a:p>
        </p:txBody>
      </p:sp>
      <p:sp>
        <p:nvSpPr>
          <p:cNvPr id="34" name="Shape"/>
          <p:cNvSpPr/>
          <p:nvPr/>
        </p:nvSpPr>
        <p:spPr>
          <a:xfrm>
            <a:off x="6410000" y="4957000"/>
            <a:ext cx="95000" cy="95000"/>
          </a:xfrm>
          <a:prstGeom prst="ellipse">
            <a:avLst/>
          </a:prstGeom>
          <a:solidFill>
            <a:srgbClr val="1B7F5C"/>
          </a:solidFill>
          <a:ln>
            <a:noFill/>
          </a:ln>
        </p:spPr>
        <p:txBody>
          <a:bodyPr/>
          <a:lstStyle/>
          <a:p/>
        </p:txBody>
      </p:sp>
      <p:sp>
        <p:nvSpPr>
          <p:cNvPr id="35" name="Text"/>
          <p:cNvSpPr txBox="1"/>
          <p:nvPr/>
        </p:nvSpPr>
        <p:spPr>
          <a:xfrm>
            <a:off x="6565000" y="4905000"/>
            <a:ext cx="4215000" cy="26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lang="es-BO" sz="2150" dirty="0">
                <a:solidFill>
                  <a:srgbClr val="17211B"/>
                </a:solidFill>
                <a:latin typeface="Aptos"/>
              </a:rPr>
              <a:t>Metricas de reduccion</a:t>
            </a:r>
          </a:p>
        </p:txBody>
      </p:sp>
      <p:sp>
        <p:nvSpPr>
          <p:cNvPr id="36" name="Text"/>
          <p:cNvSpPr txBox="1"/>
          <p:nvPr/>
        </p:nvSpPr>
        <p:spPr>
          <a:xfrm>
            <a:off x="11940000" y="6930000"/>
            <a:ext cx="720000" cy="22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lang="es-BO" sz="1300" dirty="0">
                <a:b/>
                <a:solidFill>
                  <a:srgbClr val="1B7F5C"/>
                </a:solidFill>
                <a:latin typeface="Aptos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hape"/>
          <p:cNvSpPr/>
          <p:nvPr/>
        </p:nvSpPr>
        <p:spPr>
          <a:xfrm>
            <a:off x="0" y="0"/>
            <a:ext cx="13333333" cy="7500000"/>
          </a:xfrm>
          <a:prstGeom prst="rect">
            <a:avLst/>
          </a:prstGeom>
          <a:solidFill>
            <a:srgbClr val="F7F4EA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Shape"/>
          <p:cNvSpPr/>
          <p:nvPr/>
        </p:nvSpPr>
        <p:spPr>
          <a:xfrm>
            <a:off x="0" y="0"/>
            <a:ext cx="245000" cy="7500000"/>
          </a:xfrm>
          <a:prstGeom prst="rect">
            <a:avLst/>
          </a:prstGeom>
          <a:solidFill>
            <a:srgbClr val="1B7F5C"/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Text"/>
          <p:cNvSpPr txBox="1"/>
          <p:nvPr/>
        </p:nvSpPr>
        <p:spPr>
          <a:xfrm>
            <a:off x="620000" y="410000"/>
            <a:ext cx="3600000" cy="26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lang="es-BO" sz="1350" dirty="0">
                <a:b/>
                <a:solidFill>
                  <a:srgbClr val="1B7F5C"/>
                </a:solidFill>
                <a:latin typeface="Aptos"/>
              </a:rPr>
              <a:t>SOLUCION</a:t>
            </a:r>
          </a:p>
        </p:txBody>
      </p:sp>
      <p:sp>
        <p:nvSpPr>
          <p:cNvPr id="14" name="Text"/>
          <p:cNvSpPr txBox="1"/>
          <p:nvPr/>
        </p:nvSpPr>
        <p:spPr>
          <a:xfrm>
            <a:off x="620000" y="760000"/>
            <a:ext cx="8250000" cy="126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lang="es-BO" sz="3450" dirty="0">
                <a:b/>
                <a:solidFill>
                  <a:srgbClr val="12372A"/>
                </a:solidFill>
                <a:latin typeface="Aptos"/>
              </a:rPr>
              <a:t>EcoBrief Bolivia</a:t>
            </a:r>
          </a:p>
        </p:txBody>
      </p:sp>
      <p:sp>
        <p:nvSpPr>
          <p:cNvPr id="15" name="Text"/>
          <p:cNvSpPr txBox="1"/>
          <p:nvPr/>
        </p:nvSpPr>
        <p:spPr>
          <a:xfrm>
            <a:off x="630000" y="2140000"/>
            <a:ext cx="8350000" cy="62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lang="es-BO" sz="1850" dirty="0">
                <a:solidFill>
                  <a:srgbClr val="56635C"/>
                </a:solidFill>
                <a:latin typeface="Aptos"/>
              </a:rPr>
              <a:t>Una plataforma que recolecta, deduplica, prioriza y resume noticias locales con IA eficiente.</a:t>
            </a:r>
          </a:p>
        </p:txBody>
      </p:sp>
      <p:sp>
        <p:nvSpPr>
          <p:cNvPr id="16" name="Shape"/>
          <p:cNvSpPr/>
          <p:nvPr/>
        </p:nvSpPr>
        <p:spPr>
          <a:xfrm>
            <a:off x="770000" y="3082000"/>
            <a:ext cx="95000" cy="95000"/>
          </a:xfrm>
          <a:prstGeom prst="ellipse">
            <a:avLst/>
          </a:prstGeom>
          <a:solidFill>
            <a:srgbClr val="1B7F5C"/>
          </a:solidFill>
          <a:ln>
            <a:noFill/>
          </a:ln>
        </p:spPr>
        <p:txBody>
          <a:bodyPr/>
          <a:lstStyle/>
          <a:p/>
        </p:txBody>
      </p:sp>
      <p:sp>
        <p:nvSpPr>
          <p:cNvPr id="17" name="Text"/>
          <p:cNvSpPr txBox="1"/>
          <p:nvPr/>
        </p:nvSpPr>
        <p:spPr>
          <a:xfrm>
            <a:off x="925000" y="3030000"/>
            <a:ext cx="6695000" cy="26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lang="es-BO" sz="2150" dirty="0">
                <a:solidFill>
                  <a:srgbClr val="17211B"/>
                </a:solidFill>
                <a:latin typeface="Aptos"/>
              </a:rPr>
              <a:t>Recolecta noticias de medios bolivianos.</a:t>
            </a:r>
          </a:p>
        </p:txBody>
      </p:sp>
      <p:sp>
        <p:nvSpPr>
          <p:cNvPr id="18" name="Shape"/>
          <p:cNvSpPr/>
          <p:nvPr/>
        </p:nvSpPr>
        <p:spPr>
          <a:xfrm>
            <a:off x="770000" y="3467000"/>
            <a:ext cx="95000" cy="95000"/>
          </a:xfrm>
          <a:prstGeom prst="ellipse">
            <a:avLst/>
          </a:prstGeom>
          <a:solidFill>
            <a:srgbClr val="1B7F5C"/>
          </a:solidFill>
          <a:ln>
            <a:noFill/>
          </a:ln>
        </p:spPr>
        <p:txBody>
          <a:bodyPr/>
          <a:lstStyle/>
          <a:p/>
        </p:txBody>
      </p:sp>
      <p:sp>
        <p:nvSpPr>
          <p:cNvPr id="19" name="Text"/>
          <p:cNvSpPr txBox="1"/>
          <p:nvPr/>
        </p:nvSpPr>
        <p:spPr>
          <a:xfrm>
            <a:off x="925000" y="3415000"/>
            <a:ext cx="6695000" cy="26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lang="es-BO" sz="2150" dirty="0">
                <a:solidFill>
                  <a:srgbClr val="17211B"/>
                </a:solidFill>
                <a:latin typeface="Aptos"/>
              </a:rPr>
              <a:t>Extrae titulo, descripcion, cuerpo, fecha, fuente e imagen.</a:t>
            </a:r>
          </a:p>
        </p:txBody>
      </p:sp>
      <p:sp>
        <p:nvSpPr>
          <p:cNvPr id="20" name="Shape"/>
          <p:cNvSpPr/>
          <p:nvPr/>
        </p:nvSpPr>
        <p:spPr>
          <a:xfrm>
            <a:off x="770000" y="3852000"/>
            <a:ext cx="95000" cy="95000"/>
          </a:xfrm>
          <a:prstGeom prst="ellipse">
            <a:avLst/>
          </a:prstGeom>
          <a:solidFill>
            <a:srgbClr val="1B7F5C"/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Text"/>
          <p:cNvSpPr txBox="1"/>
          <p:nvPr/>
        </p:nvSpPr>
        <p:spPr>
          <a:xfrm>
            <a:off x="925000" y="3800000"/>
            <a:ext cx="6695000" cy="26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lang="es-BO" sz="2150" dirty="0">
                <a:solidFill>
                  <a:srgbClr val="17211B"/>
                </a:solidFill>
                <a:latin typeface="Aptos"/>
              </a:rPr>
              <a:t>Elimina duplicados y agrupa historias.</a:t>
            </a:r>
          </a:p>
        </p:txBody>
      </p:sp>
      <p:sp>
        <p:nvSpPr>
          <p:cNvPr id="22" name="Shape"/>
          <p:cNvSpPr/>
          <p:nvPr/>
        </p:nvSpPr>
        <p:spPr>
          <a:xfrm>
            <a:off x="770000" y="4237000"/>
            <a:ext cx="95000" cy="95000"/>
          </a:xfrm>
          <a:prstGeom prst="ellipse">
            <a:avLst/>
          </a:prstGeom>
          <a:solidFill>
            <a:srgbClr val="1B7F5C"/>
          </a:solidFill>
          <a:ln>
            <a:noFill/>
          </a:ln>
        </p:spPr>
        <p:txBody>
          <a:bodyPr/>
          <a:lstStyle/>
          <a:p/>
        </p:txBody>
      </p:sp>
      <p:sp>
        <p:nvSpPr>
          <p:cNvPr id="23" name="Text"/>
          <p:cNvSpPr txBox="1"/>
          <p:nvPr/>
        </p:nvSpPr>
        <p:spPr>
          <a:xfrm>
            <a:off x="925000" y="4185000"/>
            <a:ext cx="6695000" cy="26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lang="es-BO" sz="2150" dirty="0">
                <a:solidFill>
                  <a:srgbClr val="17211B"/>
                </a:solidFill>
                <a:latin typeface="Aptos"/>
              </a:rPr>
              <a:t>Resume solo los articulos seleccionados.</a:t>
            </a:r>
          </a:p>
        </p:txBody>
      </p:sp>
      <p:sp>
        <p:nvSpPr>
          <p:cNvPr id="24" name="Shape"/>
          <p:cNvSpPr/>
          <p:nvPr/>
        </p:nvSpPr>
        <p:spPr>
          <a:xfrm>
            <a:off x="770000" y="4622000"/>
            <a:ext cx="95000" cy="95000"/>
          </a:xfrm>
          <a:prstGeom prst="ellipse">
            <a:avLst/>
          </a:prstGeom>
          <a:solidFill>
            <a:srgbClr val="1B7F5C"/>
          </a:solidFill>
          <a:ln>
            <a:noFill/>
          </a:ln>
        </p:spPr>
        <p:txBody>
          <a:bodyPr/>
          <a:lstStyle/>
          <a:p/>
        </p:txBody>
      </p:sp>
      <p:sp>
        <p:nvSpPr>
          <p:cNvPr id="25" name="Text"/>
          <p:cNvSpPr txBox="1"/>
          <p:nvPr/>
        </p:nvSpPr>
        <p:spPr>
          <a:xfrm>
            <a:off x="925000" y="4570000"/>
            <a:ext cx="6695000" cy="26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lang="es-BO" sz="2150" dirty="0">
                <a:solidFill>
                  <a:srgbClr val="17211B"/>
                </a:solidFill>
                <a:latin typeface="Aptos"/>
              </a:rPr>
              <a:t>Mantiene enlace a fuentes originales identificadas.</a:t>
            </a:r>
          </a:p>
        </p:txBody>
      </p:sp>
      <p:sp>
        <p:nvSpPr>
          <p:cNvPr id="26" name="Shape"/>
          <p:cNvSpPr/>
          <p:nvPr/>
        </p:nvSpPr>
        <p:spPr>
          <a:xfrm>
            <a:off x="770000" y="5007000"/>
            <a:ext cx="95000" cy="95000"/>
          </a:xfrm>
          <a:prstGeom prst="ellipse">
            <a:avLst/>
          </a:prstGeom>
          <a:solidFill>
            <a:srgbClr val="1B7F5C"/>
          </a:solidFill>
          <a:ln>
            <a:noFill/>
          </a:ln>
        </p:spPr>
        <p:txBody>
          <a:bodyPr/>
          <a:lstStyle/>
          <a:p/>
        </p:txBody>
      </p:sp>
      <p:sp>
        <p:nvSpPr>
          <p:cNvPr id="27" name="Text"/>
          <p:cNvSpPr txBox="1"/>
          <p:nvPr/>
        </p:nvSpPr>
        <p:spPr>
          <a:xfrm>
            <a:off x="925000" y="4955000"/>
            <a:ext cx="6695000" cy="26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lang="es-BO" sz="2150" dirty="0">
                <a:solidFill>
                  <a:srgbClr val="17211B"/>
                </a:solidFill>
                <a:latin typeface="Aptos"/>
              </a:rPr>
              <a:t>Entrega briefs por web y prepara distribucion personalizada.</a:t>
            </a:r>
          </a:p>
        </p:txBody>
      </p:sp>
      <p:sp>
        <p:nvSpPr>
          <p:cNvPr id="28" name="Shape"/>
          <p:cNvSpPr/>
          <p:nvPr/>
        </p:nvSpPr>
        <p:spPr>
          <a:xfrm>
            <a:off x="8500000" y="5140000"/>
            <a:ext cx="3900000" cy="1150000"/>
          </a:xfrm>
          <a:prstGeom prst="roundRect">
            <a:avLst/>
          </a:prstGeom>
          <a:solidFill>
            <a:srgbClr val="123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29" name="Text"/>
          <p:cNvSpPr txBox="1"/>
          <p:nvPr/>
        </p:nvSpPr>
        <p:spPr>
          <a:xfrm>
            <a:off x="8790000" y="5400000"/>
            <a:ext cx="3320000" cy="54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"/>
            <a:r>
              <a:rPr lang="es-BO" sz="1950" dirty="0">
                <a:b/>
                <a:solidFill>
                  <a:srgbClr val="FFFFFF"/>
                </a:solidFill>
                <a:latin typeface="Aptos"/>
              </a:rPr>
              <a:t>La IA se usa despues de reducir el volumen, no antes.</a:t>
            </a:r>
          </a:p>
        </p:txBody>
      </p:sp>
      <p:sp>
        <p:nvSpPr>
          <p:cNvPr id="30" name="Text"/>
          <p:cNvSpPr txBox="1"/>
          <p:nvPr/>
        </p:nvSpPr>
        <p:spPr>
          <a:xfrm>
            <a:off x="11940000" y="6930000"/>
            <a:ext cx="720000" cy="22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lang="es-BO" sz="1300" dirty="0">
                <a:b/>
                <a:solidFill>
                  <a:srgbClr val="1B7F5C"/>
                </a:solidFill>
                <a:latin typeface="Aptos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hape"/>
          <p:cNvSpPr/>
          <p:nvPr/>
        </p:nvSpPr>
        <p:spPr>
          <a:xfrm>
            <a:off x="0" y="0"/>
            <a:ext cx="13333333" cy="7500000"/>
          </a:xfrm>
          <a:prstGeom prst="rect">
            <a:avLst/>
          </a:prstGeom>
          <a:solidFill>
            <a:srgbClr val="F7F4EA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Shape"/>
          <p:cNvSpPr/>
          <p:nvPr/>
        </p:nvSpPr>
        <p:spPr>
          <a:xfrm>
            <a:off x="0" y="0"/>
            <a:ext cx="245000" cy="7500000"/>
          </a:xfrm>
          <a:prstGeom prst="rect">
            <a:avLst/>
          </a:prstGeom>
          <a:solidFill>
            <a:srgbClr val="1B7F5C"/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Text"/>
          <p:cNvSpPr txBox="1"/>
          <p:nvPr/>
        </p:nvSpPr>
        <p:spPr>
          <a:xfrm>
            <a:off x="620000" y="410000"/>
            <a:ext cx="3600000" cy="26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lang="es-BO" sz="1350" dirty="0">
                <a:b/>
                <a:solidFill>
                  <a:srgbClr val="1B7F5C"/>
                </a:solidFill>
                <a:latin typeface="Aptos"/>
              </a:rPr>
              <a:t>PIPELINE</a:t>
            </a:r>
          </a:p>
        </p:txBody>
      </p:sp>
      <p:sp>
        <p:nvSpPr>
          <p:cNvPr id="14" name="Text"/>
          <p:cNvSpPr txBox="1"/>
          <p:nvPr/>
        </p:nvSpPr>
        <p:spPr>
          <a:xfrm>
            <a:off x="620000" y="760000"/>
            <a:ext cx="8250000" cy="126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lang="es-BO" sz="3450" dirty="0">
                <a:b/>
                <a:solidFill>
                  <a:srgbClr val="12372A"/>
                </a:solidFill>
                <a:latin typeface="Aptos"/>
              </a:rPr>
              <a:t>Primero reducimos, luego usamos IA</a:t>
            </a:r>
          </a:p>
        </p:txBody>
      </p:sp>
      <p:sp>
        <p:nvSpPr>
          <p:cNvPr id="15" name="Text"/>
          <p:cNvSpPr txBox="1"/>
          <p:nvPr/>
        </p:nvSpPr>
        <p:spPr>
          <a:xfrm>
            <a:off x="630000" y="2140000"/>
            <a:ext cx="8350000" cy="62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lang="es-BO" sz="1850" dirty="0">
                <a:solidFill>
                  <a:srgbClr val="56635C"/>
                </a:solidFill>
                <a:latin typeface="Aptos"/>
              </a:rPr>
              <a:t>La eficiencia ocurre antes de llamar al modelo.</a:t>
            </a:r>
          </a:p>
        </p:txBody>
      </p:sp>
      <p:sp>
        <p:nvSpPr>
          <p:cNvPr id="16" name="Shape"/>
          <p:cNvSpPr/>
          <p:nvPr/>
        </p:nvSpPr>
        <p:spPr>
          <a:xfrm>
            <a:off x="720000" y="3290000"/>
            <a:ext cx="1350000" cy="760000"/>
          </a:xfrm>
          <a:prstGeom prst="roundRect">
            <a:avLst/>
          </a:prstGeom>
          <a:solidFill>
            <a:srgbClr val="FFFFFF"/>
          </a:solidFill>
          <a:ln w="10000">
            <a:solidFill>
              <a:srgbClr val="DDF6E8"/>
            </a:solidFill>
          </a:ln>
        </p:spPr>
        <p:txBody>
          <a:bodyPr/>
          <a:lstStyle/>
          <a:p/>
        </p:txBody>
      </p:sp>
      <p:sp>
        <p:nvSpPr>
          <p:cNvPr id="17" name="Text"/>
          <p:cNvSpPr txBox="1"/>
          <p:nvPr/>
        </p:nvSpPr>
        <p:spPr>
          <a:xfrm>
            <a:off x="800000" y="3425000"/>
            <a:ext cx="1190000" cy="18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"/>
            <a:r>
              <a:rPr lang="es-BO" sz="1650" dirty="0">
                <a:b/>
                <a:solidFill>
                  <a:srgbClr val="1B7F5C"/>
                </a:solidFill>
                <a:latin typeface="Aptos"/>
              </a:rPr>
              <a:t>1</a:t>
            </a:r>
          </a:p>
        </p:txBody>
      </p:sp>
      <p:sp>
        <p:nvSpPr>
          <p:cNvPr id="18" name="Text"/>
          <p:cNvSpPr txBox="1"/>
          <p:nvPr/>
        </p:nvSpPr>
        <p:spPr>
          <a:xfrm>
            <a:off x="820000" y="3640000"/>
            <a:ext cx="1150000" cy="28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"/>
            <a:r>
              <a:rPr lang="es-BO" sz="1650" dirty="0">
                <a:b/>
                <a:solidFill>
                  <a:srgbClr val="17211B"/>
                </a:solidFill>
                <a:latin typeface="Aptos"/>
              </a:rPr>
              <a:t>Scraping</a:t>
            </a:r>
          </a:p>
        </p:txBody>
      </p:sp>
      <p:sp>
        <p:nvSpPr>
          <p:cNvPr id="19" name="Text"/>
          <p:cNvSpPr txBox="1"/>
          <p:nvPr/>
        </p:nvSpPr>
        <p:spPr>
          <a:xfrm>
            <a:off x="2100000" y="3540000"/>
            <a:ext cx="250000" cy="25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"/>
            <a:r>
              <a:rPr lang="es-BO" sz="2400" dirty="0">
                <a:b/>
                <a:solidFill>
                  <a:srgbClr val="1B7F5C"/>
                </a:solidFill>
                <a:latin typeface="Aptos"/>
              </a:rPr>
              <a:t>&gt;</a:t>
            </a:r>
          </a:p>
        </p:txBody>
      </p:sp>
      <p:sp>
        <p:nvSpPr>
          <p:cNvPr id="20" name="Shape"/>
          <p:cNvSpPr/>
          <p:nvPr/>
        </p:nvSpPr>
        <p:spPr>
          <a:xfrm>
            <a:off x="2290000" y="3290000"/>
            <a:ext cx="1350000" cy="760000"/>
          </a:xfrm>
          <a:prstGeom prst="roundRect">
            <a:avLst/>
          </a:prstGeom>
          <a:solidFill>
            <a:srgbClr val="FFFFFF"/>
          </a:solidFill>
          <a:ln w="10000">
            <a:solidFill>
              <a:srgbClr val="DDF6E8"/>
            </a:solidFill>
          </a:ln>
        </p:spPr>
        <p:txBody>
          <a:bodyPr/>
          <a:lstStyle/>
          <a:p/>
        </p:txBody>
      </p:sp>
      <p:sp>
        <p:nvSpPr>
          <p:cNvPr id="21" name="Text"/>
          <p:cNvSpPr txBox="1"/>
          <p:nvPr/>
        </p:nvSpPr>
        <p:spPr>
          <a:xfrm>
            <a:off x="2370000" y="3425000"/>
            <a:ext cx="1190000" cy="18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"/>
            <a:r>
              <a:rPr lang="es-BO" sz="1650" dirty="0">
                <a:b/>
                <a:solidFill>
                  <a:srgbClr val="1B7F5C"/>
                </a:solidFill>
                <a:latin typeface="Aptos"/>
              </a:rPr>
              <a:t>2</a:t>
            </a:r>
          </a:p>
        </p:txBody>
      </p:sp>
      <p:sp>
        <p:nvSpPr>
          <p:cNvPr id="22" name="Text"/>
          <p:cNvSpPr txBox="1"/>
          <p:nvPr/>
        </p:nvSpPr>
        <p:spPr>
          <a:xfrm>
            <a:off x="2390000" y="3640000"/>
            <a:ext cx="1150000" cy="28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"/>
            <a:r>
              <a:rPr lang="es-BO" sz="1650" dirty="0">
                <a:b/>
                <a:solidFill>
                  <a:srgbClr val="17211B"/>
                </a:solidFill>
                <a:latin typeface="Aptos"/>
              </a:rPr>
              <a:t>Limpieza</a:t>
            </a:r>
          </a:p>
        </p:txBody>
      </p:sp>
      <p:sp>
        <p:nvSpPr>
          <p:cNvPr id="23" name="Text"/>
          <p:cNvSpPr txBox="1"/>
          <p:nvPr/>
        </p:nvSpPr>
        <p:spPr>
          <a:xfrm>
            <a:off x="3670000" y="3540000"/>
            <a:ext cx="250000" cy="25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"/>
            <a:r>
              <a:rPr lang="es-BO" sz="2400" dirty="0">
                <a:b/>
                <a:solidFill>
                  <a:srgbClr val="1B7F5C"/>
                </a:solidFill>
                <a:latin typeface="Aptos"/>
              </a:rPr>
              <a:t>&gt;</a:t>
            </a:r>
          </a:p>
        </p:txBody>
      </p:sp>
      <p:sp>
        <p:nvSpPr>
          <p:cNvPr id="24" name="Shape"/>
          <p:cNvSpPr/>
          <p:nvPr/>
        </p:nvSpPr>
        <p:spPr>
          <a:xfrm>
            <a:off x="3860000" y="3290000"/>
            <a:ext cx="1350000" cy="760000"/>
          </a:xfrm>
          <a:prstGeom prst="roundRect">
            <a:avLst/>
          </a:prstGeom>
          <a:solidFill>
            <a:srgbClr val="FFFFFF"/>
          </a:solidFill>
          <a:ln w="10000">
            <a:solidFill>
              <a:srgbClr val="DDF6E8"/>
            </a:solidFill>
          </a:ln>
        </p:spPr>
        <p:txBody>
          <a:bodyPr/>
          <a:lstStyle/>
          <a:p/>
        </p:txBody>
      </p:sp>
      <p:sp>
        <p:nvSpPr>
          <p:cNvPr id="25" name="Text"/>
          <p:cNvSpPr txBox="1"/>
          <p:nvPr/>
        </p:nvSpPr>
        <p:spPr>
          <a:xfrm>
            <a:off x="3940000" y="3425000"/>
            <a:ext cx="1190000" cy="18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"/>
            <a:r>
              <a:rPr lang="es-BO" sz="1650" dirty="0">
                <a:b/>
                <a:solidFill>
                  <a:srgbClr val="1B7F5C"/>
                </a:solidFill>
                <a:latin typeface="Aptos"/>
              </a:rPr>
              <a:t>3</a:t>
            </a:r>
          </a:p>
        </p:txBody>
      </p:sp>
      <p:sp>
        <p:nvSpPr>
          <p:cNvPr id="26" name="Text"/>
          <p:cNvSpPr txBox="1"/>
          <p:nvPr/>
        </p:nvSpPr>
        <p:spPr>
          <a:xfrm>
            <a:off x="3960000" y="3640000"/>
            <a:ext cx="1150000" cy="28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"/>
            <a:r>
              <a:rPr lang="es-BO" sz="1650" dirty="0">
                <a:b/>
                <a:solidFill>
                  <a:srgbClr val="17211B"/>
                </a:solidFill>
                <a:latin typeface="Aptos"/>
              </a:rPr>
              <a:t>Validacion</a:t>
            </a:r>
          </a:p>
        </p:txBody>
      </p:sp>
      <p:sp>
        <p:nvSpPr>
          <p:cNvPr id="27" name="Text"/>
          <p:cNvSpPr txBox="1"/>
          <p:nvPr/>
        </p:nvSpPr>
        <p:spPr>
          <a:xfrm>
            <a:off x="5240000" y="3540000"/>
            <a:ext cx="250000" cy="25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"/>
            <a:r>
              <a:rPr lang="es-BO" sz="2400" dirty="0">
                <a:b/>
                <a:solidFill>
                  <a:srgbClr val="1B7F5C"/>
                </a:solidFill>
                <a:latin typeface="Aptos"/>
              </a:rPr>
              <a:t>&gt;</a:t>
            </a:r>
          </a:p>
        </p:txBody>
      </p:sp>
      <p:sp>
        <p:nvSpPr>
          <p:cNvPr id="28" name="Shape"/>
          <p:cNvSpPr/>
          <p:nvPr/>
        </p:nvSpPr>
        <p:spPr>
          <a:xfrm>
            <a:off x="5430000" y="3290000"/>
            <a:ext cx="1350000" cy="760000"/>
          </a:xfrm>
          <a:prstGeom prst="roundRect">
            <a:avLst/>
          </a:prstGeom>
          <a:solidFill>
            <a:srgbClr val="FFFFFF"/>
          </a:solidFill>
          <a:ln w="10000">
            <a:solidFill>
              <a:srgbClr val="DDF6E8"/>
            </a:solidFill>
          </a:ln>
        </p:spPr>
        <p:txBody>
          <a:bodyPr/>
          <a:lstStyle/>
          <a:p/>
        </p:txBody>
      </p:sp>
      <p:sp>
        <p:nvSpPr>
          <p:cNvPr id="29" name="Text"/>
          <p:cNvSpPr txBox="1"/>
          <p:nvPr/>
        </p:nvSpPr>
        <p:spPr>
          <a:xfrm>
            <a:off x="5510000" y="3425000"/>
            <a:ext cx="1190000" cy="18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"/>
            <a:r>
              <a:rPr lang="es-BO" sz="1650" dirty="0">
                <a:b/>
                <a:solidFill>
                  <a:srgbClr val="1B7F5C"/>
                </a:solidFill>
                <a:latin typeface="Aptos"/>
              </a:rPr>
              <a:t>4</a:t>
            </a:r>
          </a:p>
        </p:txBody>
      </p:sp>
      <p:sp>
        <p:nvSpPr>
          <p:cNvPr id="30" name="Text"/>
          <p:cNvSpPr txBox="1"/>
          <p:nvPr/>
        </p:nvSpPr>
        <p:spPr>
          <a:xfrm>
            <a:off x="5530000" y="3640000"/>
            <a:ext cx="1150000" cy="28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"/>
            <a:r>
              <a:rPr lang="es-BO" sz="1650" dirty="0">
                <a:b/>
                <a:solidFill>
                  <a:srgbClr val="17211B"/>
                </a:solidFill>
                <a:latin typeface="Aptos"/>
              </a:rPr>
              <a:t>Dedupe</a:t>
            </a:r>
          </a:p>
        </p:txBody>
      </p:sp>
      <p:sp>
        <p:nvSpPr>
          <p:cNvPr id="31" name="Text"/>
          <p:cNvSpPr txBox="1"/>
          <p:nvPr/>
        </p:nvSpPr>
        <p:spPr>
          <a:xfrm>
            <a:off x="6810000" y="3540000"/>
            <a:ext cx="250000" cy="25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"/>
            <a:r>
              <a:rPr lang="es-BO" sz="2400" dirty="0">
                <a:b/>
                <a:solidFill>
                  <a:srgbClr val="1B7F5C"/>
                </a:solidFill>
                <a:latin typeface="Aptos"/>
              </a:rPr>
              <a:t>&gt;</a:t>
            </a:r>
          </a:p>
        </p:txBody>
      </p:sp>
      <p:sp>
        <p:nvSpPr>
          <p:cNvPr id="32" name="Shape"/>
          <p:cNvSpPr/>
          <p:nvPr/>
        </p:nvSpPr>
        <p:spPr>
          <a:xfrm>
            <a:off x="7000000" y="3290000"/>
            <a:ext cx="1350000" cy="760000"/>
          </a:xfrm>
          <a:prstGeom prst="roundRect">
            <a:avLst/>
          </a:prstGeom>
          <a:solidFill>
            <a:srgbClr val="FFFFFF"/>
          </a:solidFill>
          <a:ln w="10000">
            <a:solidFill>
              <a:srgbClr val="DDF6E8"/>
            </a:solidFill>
          </a:ln>
        </p:spPr>
        <p:txBody>
          <a:bodyPr/>
          <a:lstStyle/>
          <a:p/>
        </p:txBody>
      </p:sp>
      <p:sp>
        <p:nvSpPr>
          <p:cNvPr id="33" name="Text"/>
          <p:cNvSpPr txBox="1"/>
          <p:nvPr/>
        </p:nvSpPr>
        <p:spPr>
          <a:xfrm>
            <a:off x="7080000" y="3425000"/>
            <a:ext cx="1190000" cy="18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"/>
            <a:r>
              <a:rPr lang="es-BO" sz="1650" dirty="0">
                <a:b/>
                <a:solidFill>
                  <a:srgbClr val="1B7F5C"/>
                </a:solidFill>
                <a:latin typeface="Aptos"/>
              </a:rPr>
              <a:t>5</a:t>
            </a:r>
          </a:p>
        </p:txBody>
      </p:sp>
      <p:sp>
        <p:nvSpPr>
          <p:cNvPr id="34" name="Text"/>
          <p:cNvSpPr txBox="1"/>
          <p:nvPr/>
        </p:nvSpPr>
        <p:spPr>
          <a:xfrm>
            <a:off x="7100000" y="3640000"/>
            <a:ext cx="1150000" cy="28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"/>
            <a:r>
              <a:rPr lang="es-BO" sz="1650" dirty="0">
                <a:b/>
                <a:solidFill>
                  <a:srgbClr val="17211B"/>
                </a:solidFill>
                <a:latin typeface="Aptos"/>
              </a:rPr>
              <a:t>Ranking</a:t>
            </a:r>
          </a:p>
        </p:txBody>
      </p:sp>
      <p:sp>
        <p:nvSpPr>
          <p:cNvPr id="35" name="Text"/>
          <p:cNvSpPr txBox="1"/>
          <p:nvPr/>
        </p:nvSpPr>
        <p:spPr>
          <a:xfrm>
            <a:off x="8380000" y="3540000"/>
            <a:ext cx="250000" cy="25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"/>
            <a:r>
              <a:rPr lang="es-BO" sz="2400" dirty="0">
                <a:b/>
                <a:solidFill>
                  <a:srgbClr val="1B7F5C"/>
                </a:solidFill>
                <a:latin typeface="Aptos"/>
              </a:rPr>
              <a:t>&gt;</a:t>
            </a:r>
          </a:p>
        </p:txBody>
      </p:sp>
      <p:sp>
        <p:nvSpPr>
          <p:cNvPr id="36" name="Shape"/>
          <p:cNvSpPr/>
          <p:nvPr/>
        </p:nvSpPr>
        <p:spPr>
          <a:xfrm>
            <a:off x="8570000" y="3290000"/>
            <a:ext cx="1350000" cy="760000"/>
          </a:xfrm>
          <a:prstGeom prst="roundRect">
            <a:avLst/>
          </a:prstGeom>
          <a:solidFill>
            <a:srgbClr val="FFFFFF"/>
          </a:solidFill>
          <a:ln w="10000">
            <a:solidFill>
              <a:srgbClr val="DDF6E8"/>
            </a:solidFill>
          </a:ln>
        </p:spPr>
        <p:txBody>
          <a:bodyPr/>
          <a:lstStyle/>
          <a:p/>
        </p:txBody>
      </p:sp>
      <p:sp>
        <p:nvSpPr>
          <p:cNvPr id="37" name="Text"/>
          <p:cNvSpPr txBox="1"/>
          <p:nvPr/>
        </p:nvSpPr>
        <p:spPr>
          <a:xfrm>
            <a:off x="8650000" y="3425000"/>
            <a:ext cx="1190000" cy="18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"/>
            <a:r>
              <a:rPr lang="es-BO" sz="1650" dirty="0">
                <a:b/>
                <a:solidFill>
                  <a:srgbClr val="1B7F5C"/>
                </a:solidFill>
                <a:latin typeface="Aptos"/>
              </a:rPr>
              <a:t>6</a:t>
            </a:r>
          </a:p>
        </p:txBody>
      </p:sp>
      <p:sp>
        <p:nvSpPr>
          <p:cNvPr id="38" name="Text"/>
          <p:cNvSpPr txBox="1"/>
          <p:nvPr/>
        </p:nvSpPr>
        <p:spPr>
          <a:xfrm>
            <a:off x="8670000" y="3640000"/>
            <a:ext cx="1150000" cy="28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"/>
            <a:r>
              <a:rPr lang="es-BO" sz="1650" dirty="0">
                <a:b/>
                <a:solidFill>
                  <a:srgbClr val="17211B"/>
                </a:solidFill>
                <a:latin typeface="Aptos"/>
              </a:rPr>
              <a:t>IA</a:t>
            </a:r>
          </a:p>
        </p:txBody>
      </p:sp>
      <p:sp>
        <p:nvSpPr>
          <p:cNvPr id="39" name="Text"/>
          <p:cNvSpPr txBox="1"/>
          <p:nvPr/>
        </p:nvSpPr>
        <p:spPr>
          <a:xfrm>
            <a:off x="9950000" y="3540000"/>
            <a:ext cx="250000" cy="25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"/>
            <a:r>
              <a:rPr lang="es-BO" sz="2400" dirty="0">
                <a:b/>
                <a:solidFill>
                  <a:srgbClr val="1B7F5C"/>
                </a:solidFill>
                <a:latin typeface="Aptos"/>
              </a:rPr>
              <a:t>&gt;</a:t>
            </a:r>
          </a:p>
        </p:txBody>
      </p:sp>
      <p:sp>
        <p:nvSpPr>
          <p:cNvPr id="40" name="Shape"/>
          <p:cNvSpPr/>
          <p:nvPr/>
        </p:nvSpPr>
        <p:spPr>
          <a:xfrm>
            <a:off x="10140000" y="3290000"/>
            <a:ext cx="1350000" cy="760000"/>
          </a:xfrm>
          <a:prstGeom prst="roundRect">
            <a:avLst/>
          </a:prstGeom>
          <a:solidFill>
            <a:srgbClr val="FFFFFF"/>
          </a:solidFill>
          <a:ln w="10000">
            <a:solidFill>
              <a:srgbClr val="DDF6E8"/>
            </a:solidFill>
          </a:ln>
        </p:spPr>
        <p:txBody>
          <a:bodyPr/>
          <a:lstStyle/>
          <a:p/>
        </p:txBody>
      </p:sp>
      <p:sp>
        <p:nvSpPr>
          <p:cNvPr id="41" name="Text"/>
          <p:cNvSpPr txBox="1"/>
          <p:nvPr/>
        </p:nvSpPr>
        <p:spPr>
          <a:xfrm>
            <a:off x="10220000" y="3425000"/>
            <a:ext cx="1190000" cy="18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"/>
            <a:r>
              <a:rPr lang="es-BO" sz="1650" dirty="0">
                <a:b/>
                <a:solidFill>
                  <a:srgbClr val="1B7F5C"/>
                </a:solidFill>
                <a:latin typeface="Aptos"/>
              </a:rPr>
              <a:t>7</a:t>
            </a:r>
          </a:p>
        </p:txBody>
      </p:sp>
      <p:sp>
        <p:nvSpPr>
          <p:cNvPr id="42" name="Text"/>
          <p:cNvSpPr txBox="1"/>
          <p:nvPr/>
        </p:nvSpPr>
        <p:spPr>
          <a:xfrm>
            <a:off x="10240000" y="3640000"/>
            <a:ext cx="1150000" cy="28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"/>
            <a:r>
              <a:rPr lang="es-BO" sz="1650" dirty="0">
                <a:b/>
                <a:solidFill>
                  <a:srgbClr val="17211B"/>
                </a:solidFill>
                <a:latin typeface="Aptos"/>
              </a:rPr>
              <a:t>Brief</a:t>
            </a:r>
          </a:p>
        </p:txBody>
      </p:sp>
      <p:sp>
        <p:nvSpPr>
          <p:cNvPr id="43" name="Text"/>
          <p:cNvSpPr txBox="1"/>
          <p:nvPr/>
        </p:nvSpPr>
        <p:spPr>
          <a:xfrm>
            <a:off x="11520000" y="3540000"/>
            <a:ext cx="250000" cy="25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"/>
            <a:r>
              <a:rPr lang="es-BO" sz="2400" dirty="0">
                <a:b/>
                <a:solidFill>
                  <a:srgbClr val="1B7F5C"/>
                </a:solidFill>
                <a:latin typeface="Aptos"/>
              </a:rPr>
              <a:t>&gt;</a:t>
            </a:r>
          </a:p>
        </p:txBody>
      </p:sp>
      <p:sp>
        <p:nvSpPr>
          <p:cNvPr id="44" name="Shape"/>
          <p:cNvSpPr/>
          <p:nvPr/>
        </p:nvSpPr>
        <p:spPr>
          <a:xfrm>
            <a:off x="11710000" y="3290000"/>
            <a:ext cx="1350000" cy="760000"/>
          </a:xfrm>
          <a:prstGeom prst="roundRect">
            <a:avLst/>
          </a:prstGeom>
          <a:solidFill>
            <a:srgbClr val="FFFFFF"/>
          </a:solidFill>
          <a:ln w="10000">
            <a:solidFill>
              <a:srgbClr val="DDF6E8"/>
            </a:solidFill>
          </a:ln>
        </p:spPr>
        <p:txBody>
          <a:bodyPr/>
          <a:lstStyle/>
          <a:p/>
        </p:txBody>
      </p:sp>
      <p:sp>
        <p:nvSpPr>
          <p:cNvPr id="45" name="Text"/>
          <p:cNvSpPr txBox="1"/>
          <p:nvPr/>
        </p:nvSpPr>
        <p:spPr>
          <a:xfrm>
            <a:off x="11790000" y="3425000"/>
            <a:ext cx="1190000" cy="18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"/>
            <a:r>
              <a:rPr lang="es-BO" sz="1650" dirty="0">
                <a:b/>
                <a:solidFill>
                  <a:srgbClr val="1B7F5C"/>
                </a:solidFill>
                <a:latin typeface="Aptos"/>
              </a:rPr>
              <a:t>8</a:t>
            </a:r>
          </a:p>
        </p:txBody>
      </p:sp>
      <p:sp>
        <p:nvSpPr>
          <p:cNvPr id="46" name="Text"/>
          <p:cNvSpPr txBox="1"/>
          <p:nvPr/>
        </p:nvSpPr>
        <p:spPr>
          <a:xfrm>
            <a:off x="11810000" y="3640000"/>
            <a:ext cx="1150000" cy="28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"/>
            <a:r>
              <a:rPr lang="es-BO" sz="1650" dirty="0">
                <a:b/>
                <a:solidFill>
                  <a:srgbClr val="17211B"/>
                </a:solidFill>
                <a:latin typeface="Aptos"/>
              </a:rPr>
              <a:t>Impacto</a:t>
            </a:r>
          </a:p>
        </p:txBody>
      </p:sp>
      <p:sp>
        <p:nvSpPr>
          <p:cNvPr id="47" name="Text"/>
          <p:cNvSpPr txBox="1"/>
          <p:nvPr/>
        </p:nvSpPr>
        <p:spPr>
          <a:xfrm>
            <a:off x="11940000" y="6930000"/>
            <a:ext cx="720000" cy="22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lang="es-BO" sz="1300" dirty="0">
                <a:b/>
                <a:solidFill>
                  <a:srgbClr val="1B7F5C"/>
                </a:solidFill>
                <a:latin typeface="Aptos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hape"/>
          <p:cNvSpPr/>
          <p:nvPr/>
        </p:nvSpPr>
        <p:spPr>
          <a:xfrm>
            <a:off x="0" y="0"/>
            <a:ext cx="13333333" cy="7500000"/>
          </a:xfrm>
          <a:prstGeom prst="rect">
            <a:avLst/>
          </a:prstGeom>
          <a:solidFill>
            <a:srgbClr val="F7F4EA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Shape"/>
          <p:cNvSpPr/>
          <p:nvPr/>
        </p:nvSpPr>
        <p:spPr>
          <a:xfrm>
            <a:off x="0" y="0"/>
            <a:ext cx="245000" cy="7500000"/>
          </a:xfrm>
          <a:prstGeom prst="rect">
            <a:avLst/>
          </a:prstGeom>
          <a:solidFill>
            <a:srgbClr val="1B7F5C"/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Text"/>
          <p:cNvSpPr txBox="1"/>
          <p:nvPr/>
        </p:nvSpPr>
        <p:spPr>
          <a:xfrm>
            <a:off x="620000" y="410000"/>
            <a:ext cx="3600000" cy="26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lang="es-BO" sz="1350" dirty="0">
                <a:b/>
                <a:solidFill>
                  <a:srgbClr val="1B7F5C"/>
                </a:solidFill>
                <a:latin typeface="Aptos"/>
              </a:rPr>
              <a:t>PRODUCTO ACTUAL</a:t>
            </a:r>
          </a:p>
        </p:txBody>
      </p:sp>
      <p:sp>
        <p:nvSpPr>
          <p:cNvPr id="14" name="Text"/>
          <p:cNvSpPr txBox="1"/>
          <p:nvPr/>
        </p:nvSpPr>
        <p:spPr>
          <a:xfrm>
            <a:off x="620000" y="760000"/>
            <a:ext cx="8250000" cy="126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lang="es-BO" sz="3450" dirty="0">
                <a:b/>
                <a:solidFill>
                  <a:srgbClr val="12372A"/>
                </a:solidFill>
                <a:latin typeface="Aptos"/>
              </a:rPr>
              <a:t>MVP funcional, no solo una idea</a:t>
            </a:r>
          </a:p>
        </p:txBody>
      </p:sp>
      <p:sp>
        <p:nvSpPr>
          <p:cNvPr id="15" name="Text"/>
          <p:cNvSpPr txBox="1"/>
          <p:nvPr/>
        </p:nvSpPr>
        <p:spPr>
          <a:xfrm>
            <a:off x="630000" y="2140000"/>
            <a:ext cx="8350000" cy="62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lang="es-BO" sz="1850" dirty="0">
                <a:solidFill>
                  <a:srgbClr val="56635C"/>
                </a:solidFill>
                <a:latin typeface="Aptos"/>
              </a:rPr>
              <a:t>Backend, frontend, base de datos, scraping real, IA y tests.</a:t>
            </a:r>
          </a:p>
        </p:txBody>
      </p:sp>
      <p:sp>
        <p:nvSpPr>
          <p:cNvPr id="16" name="Shape"/>
          <p:cNvSpPr/>
          <p:nvPr/>
        </p:nvSpPr>
        <p:spPr>
          <a:xfrm>
            <a:off x="770000" y="3082000"/>
            <a:ext cx="95000" cy="95000"/>
          </a:xfrm>
          <a:prstGeom prst="ellipse">
            <a:avLst/>
          </a:prstGeom>
          <a:solidFill>
            <a:srgbClr val="1B7F5C"/>
          </a:solidFill>
          <a:ln>
            <a:noFill/>
          </a:ln>
        </p:spPr>
        <p:txBody>
          <a:bodyPr/>
          <a:lstStyle/>
          <a:p/>
        </p:txBody>
      </p:sp>
      <p:sp>
        <p:nvSpPr>
          <p:cNvPr id="17" name="Text"/>
          <p:cNvSpPr txBox="1"/>
          <p:nvPr/>
        </p:nvSpPr>
        <p:spPr>
          <a:xfrm>
            <a:off x="925000" y="3030000"/>
            <a:ext cx="6695000" cy="26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lang="es-BO" sz="2150" dirty="0">
                <a:solidFill>
                  <a:srgbClr val="17211B"/>
                </a:solidFill>
                <a:latin typeface="Aptos"/>
              </a:rPr>
              <a:t>Home con noticias destacadas y priorizadas.</a:t>
            </a:r>
          </a:p>
        </p:txBody>
      </p:sp>
      <p:sp>
        <p:nvSpPr>
          <p:cNvPr id="18" name="Shape"/>
          <p:cNvSpPr/>
          <p:nvPr/>
        </p:nvSpPr>
        <p:spPr>
          <a:xfrm>
            <a:off x="770000" y="3467000"/>
            <a:ext cx="95000" cy="95000"/>
          </a:xfrm>
          <a:prstGeom prst="ellipse">
            <a:avLst/>
          </a:prstGeom>
          <a:solidFill>
            <a:srgbClr val="1B7F5C"/>
          </a:solidFill>
          <a:ln>
            <a:noFill/>
          </a:ln>
        </p:spPr>
        <p:txBody>
          <a:bodyPr/>
          <a:lstStyle/>
          <a:p/>
        </p:txBody>
      </p:sp>
      <p:sp>
        <p:nvSpPr>
          <p:cNvPr id="19" name="Text"/>
          <p:cNvSpPr txBox="1"/>
          <p:nvPr/>
        </p:nvSpPr>
        <p:spPr>
          <a:xfrm>
            <a:off x="925000" y="3415000"/>
            <a:ext cx="6695000" cy="26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lang="es-BO" sz="2150" dirty="0">
                <a:solidFill>
                  <a:srgbClr val="17211B"/>
                </a:solidFill>
                <a:latin typeface="Aptos"/>
              </a:rPr>
              <a:t>Listado y detalle de articulos recolectados.</a:t>
            </a:r>
          </a:p>
        </p:txBody>
      </p:sp>
      <p:sp>
        <p:nvSpPr>
          <p:cNvPr id="20" name="Shape"/>
          <p:cNvSpPr/>
          <p:nvPr/>
        </p:nvSpPr>
        <p:spPr>
          <a:xfrm>
            <a:off x="770000" y="3852000"/>
            <a:ext cx="95000" cy="95000"/>
          </a:xfrm>
          <a:prstGeom prst="ellipse">
            <a:avLst/>
          </a:prstGeom>
          <a:solidFill>
            <a:srgbClr val="1B7F5C"/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Text"/>
          <p:cNvSpPr txBox="1"/>
          <p:nvPr/>
        </p:nvSpPr>
        <p:spPr>
          <a:xfrm>
            <a:off x="925000" y="3800000"/>
            <a:ext cx="6695000" cy="26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lang="es-BO" sz="2150" dirty="0">
                <a:solidFill>
                  <a:srgbClr val="17211B"/>
                </a:solidFill>
                <a:latin typeface="Aptos"/>
              </a:rPr>
              <a:t>Pagina de impacto Green Tech.</a:t>
            </a:r>
          </a:p>
        </p:txBody>
      </p:sp>
      <p:sp>
        <p:nvSpPr>
          <p:cNvPr id="22" name="Shape"/>
          <p:cNvSpPr/>
          <p:nvPr/>
        </p:nvSpPr>
        <p:spPr>
          <a:xfrm>
            <a:off x="770000" y="4237000"/>
            <a:ext cx="95000" cy="95000"/>
          </a:xfrm>
          <a:prstGeom prst="ellipse">
            <a:avLst/>
          </a:prstGeom>
          <a:solidFill>
            <a:srgbClr val="1B7F5C"/>
          </a:solidFill>
          <a:ln>
            <a:noFill/>
          </a:ln>
        </p:spPr>
        <p:txBody>
          <a:bodyPr/>
          <a:lstStyle/>
          <a:p/>
        </p:txBody>
      </p:sp>
      <p:sp>
        <p:nvSpPr>
          <p:cNvPr id="23" name="Text"/>
          <p:cNvSpPr txBox="1"/>
          <p:nvPr/>
        </p:nvSpPr>
        <p:spPr>
          <a:xfrm>
            <a:off x="925000" y="4185000"/>
            <a:ext cx="6695000" cy="26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lang="es-BO" sz="2150" dirty="0">
                <a:solidFill>
                  <a:srgbClr val="17211B"/>
                </a:solidFill>
                <a:latin typeface="Aptos"/>
              </a:rPr>
              <a:t>Suscripcion con categorias, canal y frecuencia.</a:t>
            </a:r>
          </a:p>
        </p:txBody>
      </p:sp>
      <p:sp>
        <p:nvSpPr>
          <p:cNvPr id="24" name="Shape"/>
          <p:cNvSpPr/>
          <p:nvPr/>
        </p:nvSpPr>
        <p:spPr>
          <a:xfrm>
            <a:off x="770000" y="4622000"/>
            <a:ext cx="95000" cy="95000"/>
          </a:xfrm>
          <a:prstGeom prst="ellipse">
            <a:avLst/>
          </a:prstGeom>
          <a:solidFill>
            <a:srgbClr val="1B7F5C"/>
          </a:solidFill>
          <a:ln>
            <a:noFill/>
          </a:ln>
        </p:spPr>
        <p:txBody>
          <a:bodyPr/>
          <a:lstStyle/>
          <a:p/>
        </p:txBody>
      </p:sp>
      <p:sp>
        <p:nvSpPr>
          <p:cNvPr id="25" name="Text"/>
          <p:cNvSpPr txBox="1"/>
          <p:nvPr/>
        </p:nvSpPr>
        <p:spPr>
          <a:xfrm>
            <a:off x="925000" y="4570000"/>
            <a:ext cx="6695000" cy="26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lang="es-BO" sz="2150" dirty="0">
                <a:solidFill>
                  <a:srgbClr val="17211B"/>
                </a:solidFill>
                <a:latin typeface="Aptos"/>
              </a:rPr>
              <a:t>Endpoint manual para generar summaries.</a:t>
            </a:r>
          </a:p>
        </p:txBody>
      </p:sp>
      <p:sp>
        <p:nvSpPr>
          <p:cNvPr id="26" name="Shape"/>
          <p:cNvSpPr/>
          <p:nvPr/>
        </p:nvSpPr>
        <p:spPr>
          <a:xfrm>
            <a:off x="8250000" y="3030000"/>
            <a:ext cx="3950000" cy="2650000"/>
          </a:xfrm>
          <a:prstGeom prst="roundRect">
            <a:avLst/>
          </a:prstGeom>
          <a:solidFill>
            <a:srgbClr val="FFFFFF"/>
          </a:solidFill>
          <a:ln w="10000">
            <a:solidFill>
              <a:srgbClr val="1B7F5C"/>
            </a:solidFill>
          </a:ln>
        </p:spPr>
        <p:txBody>
          <a:bodyPr/>
          <a:lstStyle/>
          <a:p/>
        </p:txBody>
      </p:sp>
      <p:sp>
        <p:nvSpPr>
          <p:cNvPr id="27" name="Text"/>
          <p:cNvSpPr txBox="1"/>
          <p:nvPr/>
        </p:nvSpPr>
        <p:spPr>
          <a:xfrm>
            <a:off x="8600000" y="3900000"/>
            <a:ext cx="3250000" cy="62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"/>
            <a:r>
              <a:rPr lang="es-BO" sz="2100" dirty="0">
                <a:b/>
                <a:solidFill>
                  <a:srgbClr val="56635C"/>
                </a:solidFill>
                <a:latin typeface="Aptos"/>
              </a:rPr>
              <a:t>Insertar captura: Home + Impacto + Suscripcion</a:t>
            </a:r>
          </a:p>
        </p:txBody>
      </p:sp>
      <p:sp>
        <p:nvSpPr>
          <p:cNvPr id="28" name="Text"/>
          <p:cNvSpPr txBox="1"/>
          <p:nvPr/>
        </p:nvSpPr>
        <p:spPr>
          <a:xfrm>
            <a:off x="11940000" y="6930000"/>
            <a:ext cx="720000" cy="22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lang="es-BO" sz="1300" dirty="0">
                <a:b/>
                <a:solidFill>
                  <a:srgbClr val="1B7F5C"/>
                </a:solidFill>
                <a:latin typeface="Aptos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hape"/>
          <p:cNvSpPr/>
          <p:nvPr/>
        </p:nvSpPr>
        <p:spPr>
          <a:xfrm>
            <a:off x="0" y="0"/>
            <a:ext cx="13333333" cy="7500000"/>
          </a:xfrm>
          <a:prstGeom prst="rect">
            <a:avLst/>
          </a:prstGeom>
          <a:solidFill>
            <a:srgbClr val="F7F4EA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Shape"/>
          <p:cNvSpPr/>
          <p:nvPr/>
        </p:nvSpPr>
        <p:spPr>
          <a:xfrm>
            <a:off x="0" y="0"/>
            <a:ext cx="245000" cy="7500000"/>
          </a:xfrm>
          <a:prstGeom prst="rect">
            <a:avLst/>
          </a:prstGeom>
          <a:solidFill>
            <a:srgbClr val="1B7F5C"/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Text"/>
          <p:cNvSpPr txBox="1"/>
          <p:nvPr/>
        </p:nvSpPr>
        <p:spPr>
          <a:xfrm>
            <a:off x="620000" y="410000"/>
            <a:ext cx="3600000" cy="26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lang="es-BO" sz="1350" dirty="0">
                <a:b/>
                <a:solidFill>
                  <a:srgbClr val="1B7F5C"/>
                </a:solidFill>
                <a:latin typeface="Aptos"/>
              </a:rPr>
              <a:t>IMPACTO</a:t>
            </a:r>
          </a:p>
        </p:txBody>
      </p:sp>
      <p:sp>
        <p:nvSpPr>
          <p:cNvPr id="14" name="Text"/>
          <p:cNvSpPr txBox="1"/>
          <p:nvPr/>
        </p:nvSpPr>
        <p:spPr>
          <a:xfrm>
            <a:off x="620000" y="760000"/>
            <a:ext cx="8250000" cy="126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lang="es-BO" sz="3450" dirty="0">
                <a:b/>
                <a:solidFill>
                  <a:srgbClr val="12372A"/>
                </a:solidFill>
                <a:latin typeface="Aptos"/>
              </a:rPr>
              <a:t>Impacto medible y transparente</a:t>
            </a:r>
          </a:p>
        </p:txBody>
      </p:sp>
      <p:sp>
        <p:nvSpPr>
          <p:cNvPr id="15" name="Text"/>
          <p:cNvSpPr txBox="1"/>
          <p:nvPr/>
        </p:nvSpPr>
        <p:spPr>
          <a:xfrm>
            <a:off x="630000" y="2140000"/>
            <a:ext cx="8350000" cy="62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lang="es-BO" sz="1850" dirty="0">
                <a:solidFill>
                  <a:srgbClr val="56635C"/>
                </a:solidFill>
                <a:latin typeface="Aptos"/>
              </a:rPr>
              <a:t>El sistema mide reduccion operativa y estima ahorro digital de forma conservadora.</a:t>
            </a:r>
          </a:p>
        </p:txBody>
      </p:sp>
      <p:sp>
        <p:nvSpPr>
          <p:cNvPr id="16" name="Shape"/>
          <p:cNvSpPr/>
          <p:nvPr/>
        </p:nvSpPr>
        <p:spPr>
          <a:xfrm>
            <a:off x="820000" y="3030000"/>
            <a:ext cx="4950000" cy="3220000"/>
          </a:xfrm>
          <a:prstGeom prst="roundRect">
            <a:avLst/>
          </a:prstGeom>
          <a:solidFill>
            <a:srgbClr val="FFFFFF"/>
          </a:solidFill>
          <a:ln w="10000">
            <a:solidFill>
              <a:srgbClr val="DDF6E8"/>
            </a:solidFill>
          </a:ln>
        </p:spPr>
        <p:txBody>
          <a:bodyPr/>
          <a:lstStyle/>
          <a:p/>
        </p:txBody>
      </p:sp>
      <p:sp>
        <p:nvSpPr>
          <p:cNvPr id="17" name="Text"/>
          <p:cNvSpPr txBox="1"/>
          <p:nvPr/>
        </p:nvSpPr>
        <p:spPr>
          <a:xfrm>
            <a:off x="1080000" y="3260000"/>
            <a:ext cx="4430000" cy="34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lang="es-BO" sz="2200" dirty="0">
                <a:b/>
                <a:solidFill>
                  <a:srgbClr val="1B7F5C"/>
                </a:solidFill>
                <a:latin typeface="Aptos"/>
              </a:rPr>
              <a:t>Metricas reales</a:t>
            </a:r>
          </a:p>
        </p:txBody>
      </p:sp>
      <p:sp>
        <p:nvSpPr>
          <p:cNvPr id="18" name="Shape"/>
          <p:cNvSpPr/>
          <p:nvPr/>
        </p:nvSpPr>
        <p:spPr>
          <a:xfrm>
            <a:off x="1120000" y="3802000"/>
            <a:ext cx="95000" cy="95000"/>
          </a:xfrm>
          <a:prstGeom prst="ellipse">
            <a:avLst/>
          </a:prstGeom>
          <a:solidFill>
            <a:srgbClr val="1B7F5C"/>
          </a:solidFill>
          <a:ln>
            <a:noFill/>
          </a:ln>
        </p:spPr>
        <p:txBody>
          <a:bodyPr/>
          <a:lstStyle/>
          <a:p/>
        </p:txBody>
      </p:sp>
      <p:sp>
        <p:nvSpPr>
          <p:cNvPr id="19" name="Text"/>
          <p:cNvSpPr txBox="1"/>
          <p:nvPr/>
        </p:nvSpPr>
        <p:spPr>
          <a:xfrm>
            <a:off x="1275000" y="3750000"/>
            <a:ext cx="4215000" cy="26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lang="es-BO" sz="2150" dirty="0">
                <a:solidFill>
                  <a:srgbClr val="17211B"/>
                </a:solidFill>
                <a:latin typeface="Aptos"/>
              </a:rPr>
              <a:t>Recolectadas</a:t>
            </a:r>
          </a:p>
        </p:txBody>
      </p:sp>
      <p:sp>
        <p:nvSpPr>
          <p:cNvPr id="20" name="Shape"/>
          <p:cNvSpPr/>
          <p:nvPr/>
        </p:nvSpPr>
        <p:spPr>
          <a:xfrm>
            <a:off x="1120000" y="4187000"/>
            <a:ext cx="95000" cy="95000"/>
          </a:xfrm>
          <a:prstGeom prst="ellipse">
            <a:avLst/>
          </a:prstGeom>
          <a:solidFill>
            <a:srgbClr val="1B7F5C"/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Text"/>
          <p:cNvSpPr txBox="1"/>
          <p:nvPr/>
        </p:nvSpPr>
        <p:spPr>
          <a:xfrm>
            <a:off x="1275000" y="4135000"/>
            <a:ext cx="4215000" cy="26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lang="es-BO" sz="2150" dirty="0">
                <a:solidFill>
                  <a:srgbClr val="17211B"/>
                </a:solidFill>
                <a:latin typeface="Aptos"/>
              </a:rPr>
              <a:t>Utiles</a:t>
            </a:r>
          </a:p>
        </p:txBody>
      </p:sp>
      <p:sp>
        <p:nvSpPr>
          <p:cNvPr id="22" name="Shape"/>
          <p:cNvSpPr/>
          <p:nvPr/>
        </p:nvSpPr>
        <p:spPr>
          <a:xfrm>
            <a:off x="1120000" y="4572000"/>
            <a:ext cx="95000" cy="95000"/>
          </a:xfrm>
          <a:prstGeom prst="ellipse">
            <a:avLst/>
          </a:prstGeom>
          <a:solidFill>
            <a:srgbClr val="1B7F5C"/>
          </a:solidFill>
          <a:ln>
            <a:noFill/>
          </a:ln>
        </p:spPr>
        <p:txBody>
          <a:bodyPr/>
          <a:lstStyle/>
          <a:p/>
        </p:txBody>
      </p:sp>
      <p:sp>
        <p:nvSpPr>
          <p:cNvPr id="23" name="Text"/>
          <p:cNvSpPr txBox="1"/>
          <p:nvPr/>
        </p:nvSpPr>
        <p:spPr>
          <a:xfrm>
            <a:off x="1275000" y="4520000"/>
            <a:ext cx="4215000" cy="26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lang="es-BO" sz="2150" dirty="0">
                <a:solidFill>
                  <a:srgbClr val="17211B"/>
                </a:solidFill>
                <a:latin typeface="Aptos"/>
              </a:rPr>
              <a:t>Duplicadas</a:t>
            </a:r>
          </a:p>
        </p:txBody>
      </p:sp>
      <p:sp>
        <p:nvSpPr>
          <p:cNvPr id="24" name="Shape"/>
          <p:cNvSpPr/>
          <p:nvPr/>
        </p:nvSpPr>
        <p:spPr>
          <a:xfrm>
            <a:off x="1120000" y="4957000"/>
            <a:ext cx="95000" cy="95000"/>
          </a:xfrm>
          <a:prstGeom prst="ellipse">
            <a:avLst/>
          </a:prstGeom>
          <a:solidFill>
            <a:srgbClr val="1B7F5C"/>
          </a:solidFill>
          <a:ln>
            <a:noFill/>
          </a:ln>
        </p:spPr>
        <p:txBody>
          <a:bodyPr/>
          <a:lstStyle/>
          <a:p/>
        </p:txBody>
      </p:sp>
      <p:sp>
        <p:nvSpPr>
          <p:cNvPr id="25" name="Text"/>
          <p:cNvSpPr txBox="1"/>
          <p:nvPr/>
        </p:nvSpPr>
        <p:spPr>
          <a:xfrm>
            <a:off x="1275000" y="4905000"/>
            <a:ext cx="4215000" cy="26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lang="es-BO" sz="2150" dirty="0">
                <a:solidFill>
                  <a:srgbClr val="17211B"/>
                </a:solidFill>
                <a:latin typeface="Aptos"/>
              </a:rPr>
              <a:t>Candidatas a IA</a:t>
            </a:r>
          </a:p>
        </p:txBody>
      </p:sp>
      <p:sp>
        <p:nvSpPr>
          <p:cNvPr id="26" name="Shape"/>
          <p:cNvSpPr/>
          <p:nvPr/>
        </p:nvSpPr>
        <p:spPr>
          <a:xfrm>
            <a:off x="1120000" y="5342000"/>
            <a:ext cx="95000" cy="95000"/>
          </a:xfrm>
          <a:prstGeom prst="ellipse">
            <a:avLst/>
          </a:prstGeom>
          <a:solidFill>
            <a:srgbClr val="1B7F5C"/>
          </a:solidFill>
          <a:ln>
            <a:noFill/>
          </a:ln>
        </p:spPr>
        <p:txBody>
          <a:bodyPr/>
          <a:lstStyle/>
          <a:p/>
        </p:txBody>
      </p:sp>
      <p:sp>
        <p:nvSpPr>
          <p:cNvPr id="27" name="Text"/>
          <p:cNvSpPr txBox="1"/>
          <p:nvPr/>
        </p:nvSpPr>
        <p:spPr>
          <a:xfrm>
            <a:off x="1275000" y="5290000"/>
            <a:ext cx="4215000" cy="26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lang="es-BO" sz="2150" dirty="0">
                <a:solidFill>
                  <a:srgbClr val="17211B"/>
                </a:solidFill>
                <a:latin typeface="Aptos"/>
              </a:rPr>
              <a:t>Briefs</a:t>
            </a:r>
          </a:p>
        </p:txBody>
      </p:sp>
      <p:sp>
        <p:nvSpPr>
          <p:cNvPr id="28" name="Shape"/>
          <p:cNvSpPr/>
          <p:nvPr/>
        </p:nvSpPr>
        <p:spPr>
          <a:xfrm>
            <a:off x="1120000" y="5727000"/>
            <a:ext cx="95000" cy="95000"/>
          </a:xfrm>
          <a:prstGeom prst="ellipse">
            <a:avLst/>
          </a:prstGeom>
          <a:solidFill>
            <a:srgbClr val="1B7F5C"/>
          </a:solidFill>
          <a:ln>
            <a:noFill/>
          </a:ln>
        </p:spPr>
        <p:txBody>
          <a:bodyPr/>
          <a:lstStyle/>
          <a:p/>
        </p:txBody>
      </p:sp>
      <p:sp>
        <p:nvSpPr>
          <p:cNvPr id="29" name="Text"/>
          <p:cNvSpPr txBox="1"/>
          <p:nvPr/>
        </p:nvSpPr>
        <p:spPr>
          <a:xfrm>
            <a:off x="1275000" y="5675000"/>
            <a:ext cx="4215000" cy="26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lang="es-BO" sz="2150" dirty="0">
                <a:solidFill>
                  <a:srgbClr val="17211B"/>
                </a:solidFill>
                <a:latin typeface="Aptos"/>
              </a:rPr>
              <a:t>Cache</a:t>
            </a:r>
          </a:p>
        </p:txBody>
      </p:sp>
      <p:sp>
        <p:nvSpPr>
          <p:cNvPr id="30" name="Shape"/>
          <p:cNvSpPr/>
          <p:nvPr/>
        </p:nvSpPr>
        <p:spPr>
          <a:xfrm>
            <a:off x="6110000" y="3030000"/>
            <a:ext cx="4950000" cy="3220000"/>
          </a:xfrm>
          <a:prstGeom prst="roundRect">
            <a:avLst/>
          </a:prstGeom>
          <a:solidFill>
            <a:srgbClr val="FFFFFF"/>
          </a:solidFill>
          <a:ln w="10000">
            <a:solidFill>
              <a:srgbClr val="DDF6E8"/>
            </a:solidFill>
          </a:ln>
        </p:spPr>
        <p:txBody>
          <a:bodyPr/>
          <a:lstStyle/>
          <a:p/>
        </p:txBody>
      </p:sp>
      <p:sp>
        <p:nvSpPr>
          <p:cNvPr id="31" name="Text"/>
          <p:cNvSpPr txBox="1"/>
          <p:nvPr/>
        </p:nvSpPr>
        <p:spPr>
          <a:xfrm>
            <a:off x="6370000" y="3260000"/>
            <a:ext cx="4430000" cy="34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lang="es-BO" sz="2200" dirty="0">
                <a:b/>
                <a:solidFill>
                  <a:srgbClr val="1B7F5C"/>
                </a:solidFill>
                <a:latin typeface="Aptos"/>
              </a:rPr>
              <a:t>Metricas estimadas</a:t>
            </a:r>
          </a:p>
        </p:txBody>
      </p:sp>
      <p:sp>
        <p:nvSpPr>
          <p:cNvPr id="32" name="Shape"/>
          <p:cNvSpPr/>
          <p:nvPr/>
        </p:nvSpPr>
        <p:spPr>
          <a:xfrm>
            <a:off x="6410000" y="3802000"/>
            <a:ext cx="95000" cy="95000"/>
          </a:xfrm>
          <a:prstGeom prst="ellipse">
            <a:avLst/>
          </a:prstGeom>
          <a:solidFill>
            <a:srgbClr val="1B7F5C"/>
          </a:solidFill>
          <a:ln>
            <a:noFill/>
          </a:ln>
        </p:spPr>
        <p:txBody>
          <a:bodyPr/>
          <a:lstStyle/>
          <a:p/>
        </p:txBody>
      </p:sp>
      <p:sp>
        <p:nvSpPr>
          <p:cNvPr id="33" name="Text"/>
          <p:cNvSpPr txBox="1"/>
          <p:nvPr/>
        </p:nvSpPr>
        <p:spPr>
          <a:xfrm>
            <a:off x="6565000" y="3750000"/>
            <a:ext cx="4215000" cy="26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lang="es-BO" sz="2150" dirty="0">
                <a:solidFill>
                  <a:srgbClr val="17211B"/>
                </a:solidFill>
                <a:latin typeface="Aptos"/>
              </a:rPr>
              <a:t>Paginas evitadas</a:t>
            </a:r>
          </a:p>
        </p:txBody>
      </p:sp>
      <p:sp>
        <p:nvSpPr>
          <p:cNvPr id="34" name="Shape"/>
          <p:cNvSpPr/>
          <p:nvPr/>
        </p:nvSpPr>
        <p:spPr>
          <a:xfrm>
            <a:off x="6410000" y="4187000"/>
            <a:ext cx="95000" cy="95000"/>
          </a:xfrm>
          <a:prstGeom prst="ellipse">
            <a:avLst/>
          </a:prstGeom>
          <a:solidFill>
            <a:srgbClr val="1B7F5C"/>
          </a:solidFill>
          <a:ln>
            <a:noFill/>
          </a:ln>
        </p:spPr>
        <p:txBody>
          <a:bodyPr/>
          <a:lstStyle/>
          <a:p/>
        </p:txBody>
      </p:sp>
      <p:sp>
        <p:nvSpPr>
          <p:cNvPr id="35" name="Text"/>
          <p:cNvSpPr txBox="1"/>
          <p:nvPr/>
        </p:nvSpPr>
        <p:spPr>
          <a:xfrm>
            <a:off x="6565000" y="4135000"/>
            <a:ext cx="4215000" cy="26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lang="es-BO" sz="2150" dirty="0">
                <a:solidFill>
                  <a:srgbClr val="17211B"/>
                </a:solidFill>
                <a:latin typeface="Aptos"/>
              </a:rPr>
              <a:t>Minutos ahorrados</a:t>
            </a:r>
          </a:p>
        </p:txBody>
      </p:sp>
      <p:sp>
        <p:nvSpPr>
          <p:cNvPr id="36" name="Shape"/>
          <p:cNvSpPr/>
          <p:nvPr/>
        </p:nvSpPr>
        <p:spPr>
          <a:xfrm>
            <a:off x="6410000" y="4572000"/>
            <a:ext cx="95000" cy="95000"/>
          </a:xfrm>
          <a:prstGeom prst="ellipse">
            <a:avLst/>
          </a:prstGeom>
          <a:solidFill>
            <a:srgbClr val="1B7F5C"/>
          </a:solidFill>
          <a:ln>
            <a:noFill/>
          </a:ln>
        </p:spPr>
        <p:txBody>
          <a:bodyPr/>
          <a:lstStyle/>
          <a:p/>
        </p:txBody>
      </p:sp>
      <p:sp>
        <p:nvSpPr>
          <p:cNvPr id="37" name="Text"/>
          <p:cNvSpPr txBox="1"/>
          <p:nvPr/>
        </p:nvSpPr>
        <p:spPr>
          <a:xfrm>
            <a:off x="6565000" y="4520000"/>
            <a:ext cx="4215000" cy="26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lang="es-BO" sz="2150" dirty="0">
                <a:solidFill>
                  <a:srgbClr val="17211B"/>
                </a:solidFill>
                <a:latin typeface="Aptos"/>
              </a:rPr>
              <a:t>MB no descargados</a:t>
            </a:r>
          </a:p>
        </p:txBody>
      </p:sp>
      <p:sp>
        <p:nvSpPr>
          <p:cNvPr id="38" name="Shape"/>
          <p:cNvSpPr/>
          <p:nvPr/>
        </p:nvSpPr>
        <p:spPr>
          <a:xfrm>
            <a:off x="6410000" y="4957000"/>
            <a:ext cx="95000" cy="95000"/>
          </a:xfrm>
          <a:prstGeom prst="ellipse">
            <a:avLst/>
          </a:prstGeom>
          <a:solidFill>
            <a:srgbClr val="1B7F5C"/>
          </a:solidFill>
          <a:ln>
            <a:noFill/>
          </a:ln>
        </p:spPr>
        <p:txBody>
          <a:bodyPr/>
          <a:lstStyle/>
          <a:p/>
        </p:txBody>
      </p:sp>
      <p:sp>
        <p:nvSpPr>
          <p:cNvPr id="39" name="Text"/>
          <p:cNvSpPr txBox="1"/>
          <p:nvPr/>
        </p:nvSpPr>
        <p:spPr>
          <a:xfrm>
            <a:off x="6565000" y="4905000"/>
            <a:ext cx="4215000" cy="26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lang="es-BO" sz="2150" dirty="0">
                <a:solidFill>
                  <a:srgbClr val="17211B"/>
                </a:solidFill>
                <a:latin typeface="Aptos"/>
              </a:rPr>
              <a:t>Llamadas IA evitadas</a:t>
            </a:r>
          </a:p>
        </p:txBody>
      </p:sp>
      <p:sp>
        <p:nvSpPr>
          <p:cNvPr id="40" name="Shape"/>
          <p:cNvSpPr/>
          <p:nvPr/>
        </p:nvSpPr>
        <p:spPr>
          <a:xfrm>
            <a:off x="6410000" y="5342000"/>
            <a:ext cx="95000" cy="95000"/>
          </a:xfrm>
          <a:prstGeom prst="ellipse">
            <a:avLst/>
          </a:prstGeom>
          <a:solidFill>
            <a:srgbClr val="1B7F5C"/>
          </a:solidFill>
          <a:ln>
            <a:noFill/>
          </a:ln>
        </p:spPr>
        <p:txBody>
          <a:bodyPr/>
          <a:lstStyle/>
          <a:p/>
        </p:txBody>
      </p:sp>
      <p:sp>
        <p:nvSpPr>
          <p:cNvPr id="41" name="Text"/>
          <p:cNvSpPr txBox="1"/>
          <p:nvPr/>
        </p:nvSpPr>
        <p:spPr>
          <a:xfrm>
            <a:off x="6565000" y="5290000"/>
            <a:ext cx="4215000" cy="26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lang="es-BO" sz="2150" dirty="0">
                <a:solidFill>
                  <a:srgbClr val="17211B"/>
                </a:solidFill>
                <a:latin typeface="Aptos"/>
              </a:rPr>
              <a:t>Scroll evitado</a:t>
            </a:r>
          </a:p>
        </p:txBody>
      </p:sp>
      <p:sp>
        <p:nvSpPr>
          <p:cNvPr id="42" name="Shape"/>
          <p:cNvSpPr/>
          <p:nvPr/>
        </p:nvSpPr>
        <p:spPr>
          <a:xfrm>
            <a:off x="8500000" y="5140000"/>
            <a:ext cx="3900000" cy="1150000"/>
          </a:xfrm>
          <a:prstGeom prst="roundRect">
            <a:avLst/>
          </a:prstGeom>
          <a:solidFill>
            <a:srgbClr val="123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3" name="Text"/>
          <p:cNvSpPr txBox="1"/>
          <p:nvPr/>
        </p:nvSpPr>
        <p:spPr>
          <a:xfrm>
            <a:off x="8790000" y="5400000"/>
            <a:ext cx="3320000" cy="54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"/>
            <a:r>
              <a:rPr lang="es-BO" sz="1950" dirty="0">
                <a:b/>
                <a:solidFill>
                  <a:srgbClr val="FFFFFF"/>
                </a:solidFill>
                <a:latin typeface="Aptos"/>
              </a:rPr>
              <a:t>No prometemos medicion energetica directa todavia; mostramos reduccion verificable del flujo.</a:t>
            </a:r>
          </a:p>
        </p:txBody>
      </p:sp>
      <p:sp>
        <p:nvSpPr>
          <p:cNvPr id="44" name="Text"/>
          <p:cNvSpPr txBox="1"/>
          <p:nvPr/>
        </p:nvSpPr>
        <p:spPr>
          <a:xfrm>
            <a:off x="11940000" y="6930000"/>
            <a:ext cx="720000" cy="22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lang="es-BO" sz="1300" dirty="0">
                <a:b/>
                <a:solidFill>
                  <a:srgbClr val="1B7F5C"/>
                </a:solidFill>
                <a:latin typeface="Aptos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hape"/>
          <p:cNvSpPr/>
          <p:nvPr/>
        </p:nvSpPr>
        <p:spPr>
          <a:xfrm>
            <a:off x="0" y="0"/>
            <a:ext cx="13333333" cy="7500000"/>
          </a:xfrm>
          <a:prstGeom prst="rect">
            <a:avLst/>
          </a:prstGeom>
          <a:solidFill>
            <a:srgbClr val="F7F4EA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Shape"/>
          <p:cNvSpPr/>
          <p:nvPr/>
        </p:nvSpPr>
        <p:spPr>
          <a:xfrm>
            <a:off x="0" y="0"/>
            <a:ext cx="245000" cy="7500000"/>
          </a:xfrm>
          <a:prstGeom prst="rect">
            <a:avLst/>
          </a:prstGeom>
          <a:solidFill>
            <a:srgbClr val="1B7F5C"/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Text"/>
          <p:cNvSpPr txBox="1"/>
          <p:nvPr/>
        </p:nvSpPr>
        <p:spPr>
          <a:xfrm>
            <a:off x="620000" y="410000"/>
            <a:ext cx="3600000" cy="26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lang="es-BO" sz="1350" dirty="0">
                <a:b/>
                <a:solidFill>
                  <a:srgbClr val="1B7F5C"/>
                </a:solidFill>
                <a:latin typeface="Aptos"/>
              </a:rPr>
              <a:t>DIFERENCIADORES</a:t>
            </a:r>
          </a:p>
        </p:txBody>
      </p:sp>
      <p:sp>
        <p:nvSpPr>
          <p:cNvPr id="14" name="Text"/>
          <p:cNvSpPr txBox="1"/>
          <p:nvPr/>
        </p:nvSpPr>
        <p:spPr>
          <a:xfrm>
            <a:off x="620000" y="760000"/>
            <a:ext cx="8250000" cy="126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lang="es-BO" sz="3450" dirty="0">
                <a:b/>
                <a:solidFill>
                  <a:srgbClr val="12372A"/>
                </a:solidFill>
                <a:latin typeface="Aptos"/>
              </a:rPr>
              <a:t>Por que EcoBrief es competitivo</a:t>
            </a:r>
          </a:p>
        </p:txBody>
      </p:sp>
      <p:sp>
        <p:nvSpPr>
          <p:cNvPr id="15" name="Text"/>
          <p:cNvSpPr txBox="1"/>
          <p:nvPr/>
        </p:nvSpPr>
        <p:spPr>
          <a:xfrm>
            <a:off x="630000" y="2140000"/>
            <a:ext cx="8350000" cy="62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lang="es-BO" sz="1850" dirty="0">
                <a:solidFill>
                  <a:srgbClr val="56635C"/>
                </a:solidFill>
                <a:latin typeface="Aptos"/>
              </a:rPr>
              <a:t>Combina Green Tech, producto funcional y bajo costo operativo.</a:t>
            </a:r>
          </a:p>
        </p:txBody>
      </p:sp>
      <p:sp>
        <p:nvSpPr>
          <p:cNvPr id="16" name="Shape"/>
          <p:cNvSpPr/>
          <p:nvPr/>
        </p:nvSpPr>
        <p:spPr>
          <a:xfrm>
            <a:off x="770000" y="3082000"/>
            <a:ext cx="95000" cy="95000"/>
          </a:xfrm>
          <a:prstGeom prst="ellipse">
            <a:avLst/>
          </a:prstGeom>
          <a:solidFill>
            <a:srgbClr val="1B7F5C"/>
          </a:solidFill>
          <a:ln>
            <a:noFill/>
          </a:ln>
        </p:spPr>
        <p:txBody>
          <a:bodyPr/>
          <a:lstStyle/>
          <a:p/>
        </p:txBody>
      </p:sp>
      <p:sp>
        <p:nvSpPr>
          <p:cNvPr id="17" name="Text"/>
          <p:cNvSpPr txBox="1"/>
          <p:nvPr/>
        </p:nvSpPr>
        <p:spPr>
          <a:xfrm>
            <a:off x="925000" y="3030000"/>
            <a:ext cx="6695000" cy="26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lang="es-BO" sz="2150" dirty="0">
                <a:solidFill>
                  <a:srgbClr val="17211B"/>
                </a:solidFill>
                <a:latin typeface="Aptos"/>
              </a:rPr>
              <a:t>Reduce desperdicio digital, no solo resume noticias.</a:t>
            </a:r>
          </a:p>
        </p:txBody>
      </p:sp>
      <p:sp>
        <p:nvSpPr>
          <p:cNvPr id="18" name="Shape"/>
          <p:cNvSpPr/>
          <p:nvPr/>
        </p:nvSpPr>
        <p:spPr>
          <a:xfrm>
            <a:off x="770000" y="3467000"/>
            <a:ext cx="95000" cy="95000"/>
          </a:xfrm>
          <a:prstGeom prst="ellipse">
            <a:avLst/>
          </a:prstGeom>
          <a:solidFill>
            <a:srgbClr val="1B7F5C"/>
          </a:solidFill>
          <a:ln>
            <a:noFill/>
          </a:ln>
        </p:spPr>
        <p:txBody>
          <a:bodyPr/>
          <a:lstStyle/>
          <a:p/>
        </p:txBody>
      </p:sp>
      <p:sp>
        <p:nvSpPr>
          <p:cNvPr id="19" name="Text"/>
          <p:cNvSpPr txBox="1"/>
          <p:nvPr/>
        </p:nvSpPr>
        <p:spPr>
          <a:xfrm>
            <a:off x="925000" y="3415000"/>
            <a:ext cx="6695000" cy="26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lang="es-BO" sz="2150" dirty="0">
                <a:solidFill>
                  <a:srgbClr val="17211B"/>
                </a:solidFill>
                <a:latin typeface="Aptos"/>
              </a:rPr>
              <a:t>Deduplica, rankea y cachea antes de usar IA.</a:t>
            </a:r>
          </a:p>
        </p:txBody>
      </p:sp>
      <p:sp>
        <p:nvSpPr>
          <p:cNvPr id="20" name="Shape"/>
          <p:cNvSpPr/>
          <p:nvPr/>
        </p:nvSpPr>
        <p:spPr>
          <a:xfrm>
            <a:off x="770000" y="3852000"/>
            <a:ext cx="95000" cy="95000"/>
          </a:xfrm>
          <a:prstGeom prst="ellipse">
            <a:avLst/>
          </a:prstGeom>
          <a:solidFill>
            <a:srgbClr val="1B7F5C"/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Text"/>
          <p:cNvSpPr txBox="1"/>
          <p:nvPr/>
        </p:nvSpPr>
        <p:spPr>
          <a:xfrm>
            <a:off x="925000" y="3800000"/>
            <a:ext cx="6695000" cy="26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lang="es-BO" sz="2150" dirty="0">
                <a:solidFill>
                  <a:srgbClr val="17211B"/>
                </a:solidFill>
                <a:latin typeface="Aptos"/>
              </a:rPr>
              <a:t>Muestra impacto con metricas visibles.</a:t>
            </a:r>
          </a:p>
        </p:txBody>
      </p:sp>
      <p:sp>
        <p:nvSpPr>
          <p:cNvPr id="22" name="Shape"/>
          <p:cNvSpPr/>
          <p:nvPr/>
        </p:nvSpPr>
        <p:spPr>
          <a:xfrm>
            <a:off x="770000" y="4237000"/>
            <a:ext cx="95000" cy="95000"/>
          </a:xfrm>
          <a:prstGeom prst="ellipse">
            <a:avLst/>
          </a:prstGeom>
          <a:solidFill>
            <a:srgbClr val="1B7F5C"/>
          </a:solidFill>
          <a:ln>
            <a:noFill/>
          </a:ln>
        </p:spPr>
        <p:txBody>
          <a:bodyPr/>
          <a:lstStyle/>
          <a:p/>
        </p:txBody>
      </p:sp>
      <p:sp>
        <p:nvSpPr>
          <p:cNvPr id="23" name="Text"/>
          <p:cNvSpPr txBox="1"/>
          <p:nvPr/>
        </p:nvSpPr>
        <p:spPr>
          <a:xfrm>
            <a:off x="925000" y="4185000"/>
            <a:ext cx="6695000" cy="26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lang="es-BO" sz="2150" dirty="0">
                <a:solidFill>
                  <a:srgbClr val="17211B"/>
                </a:solidFill>
                <a:latin typeface="Aptos"/>
              </a:rPr>
              <a:t>Ofrece una alternativa trazable al consumo informativo en redes.</a:t>
            </a:r>
          </a:p>
        </p:txBody>
      </p:sp>
      <p:sp>
        <p:nvSpPr>
          <p:cNvPr id="24" name="Shape"/>
          <p:cNvSpPr/>
          <p:nvPr/>
        </p:nvSpPr>
        <p:spPr>
          <a:xfrm>
            <a:off x="770000" y="4622000"/>
            <a:ext cx="95000" cy="95000"/>
          </a:xfrm>
          <a:prstGeom prst="ellipse">
            <a:avLst/>
          </a:prstGeom>
          <a:solidFill>
            <a:srgbClr val="1B7F5C"/>
          </a:solidFill>
          <a:ln>
            <a:noFill/>
          </a:ln>
        </p:spPr>
        <p:txBody>
          <a:bodyPr/>
          <a:lstStyle/>
          <a:p/>
        </p:txBody>
      </p:sp>
      <p:sp>
        <p:nvSpPr>
          <p:cNvPr id="25" name="Text"/>
          <p:cNvSpPr txBox="1"/>
          <p:nvPr/>
        </p:nvSpPr>
        <p:spPr>
          <a:xfrm>
            <a:off x="925000" y="4570000"/>
            <a:ext cx="6695000" cy="26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lang="es-BO" sz="2150" dirty="0">
                <a:solidFill>
                  <a:srgbClr val="17211B"/>
                </a:solidFill>
                <a:latin typeface="Aptos"/>
              </a:rPr>
              <a:t>Puede escalar a boletines oficiales y monitoreo institucional.</a:t>
            </a:r>
          </a:p>
        </p:txBody>
      </p:sp>
      <p:sp>
        <p:nvSpPr>
          <p:cNvPr id="26" name="Shape"/>
          <p:cNvSpPr/>
          <p:nvPr/>
        </p:nvSpPr>
        <p:spPr>
          <a:xfrm>
            <a:off x="770000" y="5007000"/>
            <a:ext cx="95000" cy="95000"/>
          </a:xfrm>
          <a:prstGeom prst="ellipse">
            <a:avLst/>
          </a:prstGeom>
          <a:solidFill>
            <a:srgbClr val="1B7F5C"/>
          </a:solidFill>
          <a:ln>
            <a:noFill/>
          </a:ln>
        </p:spPr>
        <p:txBody>
          <a:bodyPr/>
          <a:lstStyle/>
          <a:p/>
        </p:txBody>
      </p:sp>
      <p:sp>
        <p:nvSpPr>
          <p:cNvPr id="27" name="Text"/>
          <p:cNvSpPr txBox="1"/>
          <p:nvPr/>
        </p:nvSpPr>
        <p:spPr>
          <a:xfrm>
            <a:off x="925000" y="4955000"/>
            <a:ext cx="6695000" cy="26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lang="es-BO" sz="2150" dirty="0">
                <a:solidFill>
                  <a:srgbClr val="17211B"/>
                </a:solidFill>
                <a:latin typeface="Aptos"/>
              </a:rPr>
              <a:t>Equipo interdepartamental con vision tecnica y educativa.</a:t>
            </a:r>
          </a:p>
        </p:txBody>
      </p:sp>
      <p:sp>
        <p:nvSpPr>
          <p:cNvPr id="28" name="Text"/>
          <p:cNvSpPr txBox="1"/>
          <p:nvPr/>
        </p:nvSpPr>
        <p:spPr>
          <a:xfrm>
            <a:off x="11940000" y="6930000"/>
            <a:ext cx="720000" cy="22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lang="es-BO" sz="1300" dirty="0">
                <a:b/>
                <a:solidFill>
                  <a:srgbClr val="1B7F5C"/>
                </a:solidFill>
                <a:latin typeface="Aptos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hape"/>
          <p:cNvSpPr/>
          <p:nvPr/>
        </p:nvSpPr>
        <p:spPr>
          <a:xfrm>
            <a:off x="0" y="0"/>
            <a:ext cx="13333333" cy="7500000"/>
          </a:xfrm>
          <a:prstGeom prst="rect">
            <a:avLst/>
          </a:prstGeom>
          <a:solidFill>
            <a:srgbClr val="F7F4EA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Shape"/>
          <p:cNvSpPr/>
          <p:nvPr/>
        </p:nvSpPr>
        <p:spPr>
          <a:xfrm>
            <a:off x="0" y="0"/>
            <a:ext cx="245000" cy="7500000"/>
          </a:xfrm>
          <a:prstGeom prst="rect">
            <a:avLst/>
          </a:prstGeom>
          <a:solidFill>
            <a:srgbClr val="1B7F5C"/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Text"/>
          <p:cNvSpPr txBox="1"/>
          <p:nvPr/>
        </p:nvSpPr>
        <p:spPr>
          <a:xfrm>
            <a:off x="620000" y="410000"/>
            <a:ext cx="3600000" cy="26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lang="es-BO" sz="1350" dirty="0">
                <a:b/>
                <a:solidFill>
                  <a:srgbClr val="1B7F5C"/>
                </a:solidFill>
                <a:latin typeface="Aptos"/>
              </a:rPr>
              <a:t>COSTOS</a:t>
            </a:r>
          </a:p>
        </p:txBody>
      </p:sp>
      <p:sp>
        <p:nvSpPr>
          <p:cNvPr id="14" name="Text"/>
          <p:cNvSpPr txBox="1"/>
          <p:nvPr/>
        </p:nvSpPr>
        <p:spPr>
          <a:xfrm>
            <a:off x="620000" y="760000"/>
            <a:ext cx="8250000" cy="126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lang="es-BO" sz="3450" dirty="0">
                <a:b/>
                <a:solidFill>
                  <a:srgbClr val="12372A"/>
                </a:solidFill>
                <a:latin typeface="Aptos"/>
              </a:rPr>
              <a:t>Modelo inicial de bajo costo</a:t>
            </a:r>
          </a:p>
        </p:txBody>
      </p:sp>
      <p:sp>
        <p:nvSpPr>
          <p:cNvPr id="15" name="Text"/>
          <p:cNvSpPr txBox="1"/>
          <p:nvPr/>
        </p:nvSpPr>
        <p:spPr>
          <a:xfrm>
            <a:off x="630000" y="2140000"/>
            <a:ext cx="8350000" cy="62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lang="es-BO" sz="1850" dirty="0">
                <a:solidFill>
                  <a:srgbClr val="56635C"/>
                </a:solidFill>
                <a:latin typeface="Aptos"/>
              </a:rPr>
              <a:t>Un MVP sostenible puede operar con infraestructura simple y costos variables controlados.</a:t>
            </a:r>
          </a:p>
        </p:txBody>
      </p:sp>
      <p:sp>
        <p:nvSpPr>
          <p:cNvPr id="16" name="Shape"/>
          <p:cNvSpPr/>
          <p:nvPr/>
        </p:nvSpPr>
        <p:spPr>
          <a:xfrm>
            <a:off x="830000" y="3030000"/>
            <a:ext cx="7350000" cy="340000"/>
          </a:xfrm>
          <a:prstGeom prst="rect">
            <a:avLst/>
          </a:prstGeom>
          <a:solidFill>
            <a:srgbClr val="DDF6E8"/>
          </a:solidFill>
          <a:ln>
            <a:noFill/>
          </a:ln>
        </p:spPr>
        <p:txBody>
          <a:bodyPr/>
          <a:lstStyle/>
          <a:p/>
        </p:txBody>
      </p:sp>
      <p:sp>
        <p:nvSpPr>
          <p:cNvPr id="17" name="Text"/>
          <p:cNvSpPr txBox="1"/>
          <p:nvPr/>
        </p:nvSpPr>
        <p:spPr>
          <a:xfrm>
            <a:off x="1050000" y="3100000"/>
            <a:ext cx="4900000" cy="17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lang="es-BO" sz="1700" dirty="0">
                <a:solidFill>
                  <a:srgbClr val="17211B"/>
                </a:solidFill>
                <a:latin typeface="Aptos"/>
              </a:rPr>
              <a:t>Servidor Hostinger KVM 2</a:t>
            </a:r>
          </a:p>
        </p:txBody>
      </p:sp>
      <p:sp>
        <p:nvSpPr>
          <p:cNvPr id="18" name="Text"/>
          <p:cNvSpPr txBox="1"/>
          <p:nvPr/>
        </p:nvSpPr>
        <p:spPr>
          <a:xfrm>
            <a:off x="6000000" y="3100000"/>
            <a:ext cx="1900000" cy="17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lang="es-BO" sz="1700" dirty="0">
                <a:b/>
                <a:solidFill>
                  <a:srgbClr val="12372A"/>
                </a:solidFill>
                <a:latin typeface="Aptos"/>
              </a:rPr>
              <a:t>USD 107.88/ano ref.</a:t>
            </a:r>
          </a:p>
        </p:txBody>
      </p:sp>
      <p:sp>
        <p:nvSpPr>
          <p:cNvPr id="19" name="Shape"/>
          <p:cNvSpPr/>
          <p:nvPr/>
        </p:nvSpPr>
        <p:spPr>
          <a:xfrm>
            <a:off x="830000" y="3475000"/>
            <a:ext cx="7350000" cy="34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Text"/>
          <p:cNvSpPr txBox="1"/>
          <p:nvPr/>
        </p:nvSpPr>
        <p:spPr>
          <a:xfrm>
            <a:off x="1050000" y="3545000"/>
            <a:ext cx="4900000" cy="17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lang="es-BO" sz="1700" dirty="0">
                <a:solidFill>
                  <a:srgbClr val="17211B"/>
                </a:solidFill>
                <a:latin typeface="Aptos"/>
              </a:rPr>
              <a:t>Dominio NIC Bolivia</a:t>
            </a:r>
          </a:p>
        </p:txBody>
      </p:sp>
      <p:sp>
        <p:nvSpPr>
          <p:cNvPr id="21" name="Text"/>
          <p:cNvSpPr txBox="1"/>
          <p:nvPr/>
        </p:nvSpPr>
        <p:spPr>
          <a:xfrm>
            <a:off x="6000000" y="3545000"/>
            <a:ext cx="1900000" cy="17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lang="es-BO" sz="1700" dirty="0">
                <a:b/>
                <a:solidFill>
                  <a:srgbClr val="12372A"/>
                </a:solidFill>
                <a:latin typeface="Aptos"/>
              </a:rPr>
              <a:t>55 Bs/ano</a:t>
            </a:r>
          </a:p>
        </p:txBody>
      </p:sp>
      <p:sp>
        <p:nvSpPr>
          <p:cNvPr id="22" name="Shape"/>
          <p:cNvSpPr/>
          <p:nvPr/>
        </p:nvSpPr>
        <p:spPr>
          <a:xfrm>
            <a:off x="830000" y="3920000"/>
            <a:ext cx="7350000" cy="340000"/>
          </a:xfrm>
          <a:prstGeom prst="rect">
            <a:avLst/>
          </a:prstGeom>
          <a:solidFill>
            <a:srgbClr val="DDF6E8"/>
          </a:solidFill>
          <a:ln>
            <a:noFill/>
          </a:ln>
        </p:spPr>
        <p:txBody>
          <a:bodyPr/>
          <a:lstStyle/>
          <a:p/>
        </p:txBody>
      </p:sp>
      <p:sp>
        <p:nvSpPr>
          <p:cNvPr id="23" name="Text"/>
          <p:cNvSpPr txBox="1"/>
          <p:nvPr/>
        </p:nvSpPr>
        <p:spPr>
          <a:xfrm>
            <a:off x="1050000" y="3990000"/>
            <a:ext cx="4900000" cy="17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lang="es-BO" sz="1700" dirty="0">
                <a:solidFill>
                  <a:srgbClr val="17211B"/>
                </a:solidFill>
                <a:latin typeface="Aptos"/>
              </a:rPr>
              <a:t>BD + backend + frontend + cron</a:t>
            </a:r>
          </a:p>
        </p:txBody>
      </p:sp>
      <p:sp>
        <p:nvSpPr>
          <p:cNvPr id="24" name="Text"/>
          <p:cNvSpPr txBox="1"/>
          <p:nvPr/>
        </p:nvSpPr>
        <p:spPr>
          <a:xfrm>
            <a:off x="6000000" y="3990000"/>
            <a:ext cx="1900000" cy="17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lang="es-BO" sz="1700" dirty="0">
                <a:b/>
                <a:solidFill>
                  <a:srgbClr val="12372A"/>
                </a:solidFill>
                <a:latin typeface="Aptos"/>
              </a:rPr>
              <a:t>Incluido en VPS</a:t>
            </a:r>
          </a:p>
        </p:txBody>
      </p:sp>
      <p:sp>
        <p:nvSpPr>
          <p:cNvPr id="25" name="Shape"/>
          <p:cNvSpPr/>
          <p:nvPr/>
        </p:nvSpPr>
        <p:spPr>
          <a:xfrm>
            <a:off x="830000" y="4365000"/>
            <a:ext cx="7350000" cy="34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26" name="Text"/>
          <p:cNvSpPr txBox="1"/>
          <p:nvPr/>
        </p:nvSpPr>
        <p:spPr>
          <a:xfrm>
            <a:off x="1050000" y="4435000"/>
            <a:ext cx="4900000" cy="17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lang="es-BO" sz="1700" dirty="0">
                <a:solidFill>
                  <a:srgbClr val="17211B"/>
                </a:solidFill>
                <a:latin typeface="Aptos"/>
              </a:rPr>
              <a:t>Email Gmail SMTP + App Password</a:t>
            </a:r>
          </a:p>
        </p:txBody>
      </p:sp>
      <p:sp>
        <p:nvSpPr>
          <p:cNvPr id="27" name="Text"/>
          <p:cNvSpPr txBox="1"/>
          <p:nvPr/>
        </p:nvSpPr>
        <p:spPr>
          <a:xfrm>
            <a:off x="6000000" y="4435000"/>
            <a:ext cx="1900000" cy="17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lang="es-BO" sz="1700" dirty="0">
                <a:b/>
                <a:solidFill>
                  <a:srgbClr val="12372A"/>
                </a:solidFill>
                <a:latin typeface="Aptos"/>
              </a:rPr>
              <a:t>Gratis con limites</a:t>
            </a:r>
          </a:p>
        </p:txBody>
      </p:sp>
      <p:sp>
        <p:nvSpPr>
          <p:cNvPr id="28" name="Shape"/>
          <p:cNvSpPr/>
          <p:nvPr/>
        </p:nvSpPr>
        <p:spPr>
          <a:xfrm>
            <a:off x="830000" y="4810000"/>
            <a:ext cx="7350000" cy="340000"/>
          </a:xfrm>
          <a:prstGeom prst="rect">
            <a:avLst/>
          </a:prstGeom>
          <a:solidFill>
            <a:srgbClr val="DDF6E8"/>
          </a:solidFill>
          <a:ln>
            <a:noFill/>
          </a:ln>
        </p:spPr>
        <p:txBody>
          <a:bodyPr/>
          <a:lstStyle/>
          <a:p/>
        </p:txBody>
      </p:sp>
      <p:sp>
        <p:nvSpPr>
          <p:cNvPr id="29" name="Text"/>
          <p:cNvSpPr txBox="1"/>
          <p:nvPr/>
        </p:nvSpPr>
        <p:spPr>
          <a:xfrm>
            <a:off x="1050000" y="4880000"/>
            <a:ext cx="4900000" cy="17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lang="es-BO" sz="1700" dirty="0">
                <a:solidFill>
                  <a:srgbClr val="17211B"/>
                </a:solidFill>
                <a:latin typeface="Aptos"/>
              </a:rPr>
              <a:t>Telegram Bot API</a:t>
            </a:r>
          </a:p>
        </p:txBody>
      </p:sp>
      <p:sp>
        <p:nvSpPr>
          <p:cNvPr id="30" name="Text"/>
          <p:cNvSpPr txBox="1"/>
          <p:nvPr/>
        </p:nvSpPr>
        <p:spPr>
          <a:xfrm>
            <a:off x="6000000" y="4880000"/>
            <a:ext cx="1900000" cy="17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lang="es-BO" sz="1700" dirty="0">
                <a:b/>
                <a:solidFill>
                  <a:srgbClr val="12372A"/>
                </a:solidFill>
                <a:latin typeface="Aptos"/>
              </a:rPr>
              <a:t>Gratis</a:t>
            </a:r>
          </a:p>
        </p:txBody>
      </p:sp>
      <p:sp>
        <p:nvSpPr>
          <p:cNvPr id="31" name="Shape"/>
          <p:cNvSpPr/>
          <p:nvPr/>
        </p:nvSpPr>
        <p:spPr>
          <a:xfrm>
            <a:off x="830000" y="5255000"/>
            <a:ext cx="7350000" cy="34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32" name="Text"/>
          <p:cNvSpPr txBox="1"/>
          <p:nvPr/>
        </p:nvSpPr>
        <p:spPr>
          <a:xfrm>
            <a:off x="1050000" y="5325000"/>
            <a:ext cx="4900000" cy="17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lang="es-BO" sz="1700" dirty="0">
                <a:solidFill>
                  <a:srgbClr val="17211B"/>
                </a:solidFill>
                <a:latin typeface="Aptos"/>
              </a:rPr>
              <a:t>WhatsApp Twilio</a:t>
            </a:r>
          </a:p>
        </p:txBody>
      </p:sp>
      <p:sp>
        <p:nvSpPr>
          <p:cNvPr id="33" name="Text"/>
          <p:cNvSpPr txBox="1"/>
          <p:nvPr/>
        </p:nvSpPr>
        <p:spPr>
          <a:xfrm>
            <a:off x="6000000" y="5325000"/>
            <a:ext cx="1900000" cy="17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lang="es-BO" sz="1700" dirty="0">
                <a:b/>
                <a:solidFill>
                  <a:srgbClr val="12372A"/>
                </a:solidFill>
                <a:latin typeface="Aptos"/>
              </a:rPr>
              <a:t>Piloto/opcional</a:t>
            </a:r>
          </a:p>
        </p:txBody>
      </p:sp>
      <p:sp>
        <p:nvSpPr>
          <p:cNvPr id="34" name="Shape"/>
          <p:cNvSpPr/>
          <p:nvPr/>
        </p:nvSpPr>
        <p:spPr>
          <a:xfrm>
            <a:off x="830000" y="5700000"/>
            <a:ext cx="7350000" cy="340000"/>
          </a:xfrm>
          <a:prstGeom prst="rect">
            <a:avLst/>
          </a:prstGeom>
          <a:solidFill>
            <a:srgbClr val="DDF6E8"/>
          </a:solidFill>
          <a:ln>
            <a:noFill/>
          </a:ln>
        </p:spPr>
        <p:txBody>
          <a:bodyPr/>
          <a:lstStyle/>
          <a:p/>
        </p:txBody>
      </p:sp>
      <p:sp>
        <p:nvSpPr>
          <p:cNvPr id="35" name="Text"/>
          <p:cNvSpPr txBox="1"/>
          <p:nvPr/>
        </p:nvSpPr>
        <p:spPr>
          <a:xfrm>
            <a:off x="1050000" y="5770000"/>
            <a:ext cx="4900000" cy="17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lang="es-BO" sz="1700" dirty="0">
                <a:solidFill>
                  <a:srgbClr val="17211B"/>
                </a:solidFill>
                <a:latin typeface="Aptos"/>
              </a:rPr>
              <a:t>IA Groq API free tier</a:t>
            </a:r>
          </a:p>
        </p:txBody>
      </p:sp>
      <p:sp>
        <p:nvSpPr>
          <p:cNvPr id="36" name="Text"/>
          <p:cNvSpPr txBox="1"/>
          <p:nvPr/>
        </p:nvSpPr>
        <p:spPr>
          <a:xfrm>
            <a:off x="6000000" y="5770000"/>
            <a:ext cx="1900000" cy="17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lang="es-BO" sz="1700" dirty="0">
                <a:b/>
                <a:solidFill>
                  <a:srgbClr val="12372A"/>
                </a:solidFill>
                <a:latin typeface="Aptos"/>
              </a:rPr>
              <a:t>USD 0 en demo</a:t>
            </a:r>
          </a:p>
        </p:txBody>
      </p:sp>
      <p:sp>
        <p:nvSpPr>
          <p:cNvPr id="37" name="Text"/>
          <p:cNvSpPr txBox="1"/>
          <p:nvPr/>
        </p:nvSpPr>
        <p:spPr>
          <a:xfrm>
            <a:off x="11940000" y="6930000"/>
            <a:ext cx="720000" cy="22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lang="es-BO" sz="1300" dirty="0">
                <a:b/>
                <a:solidFill>
                  <a:srgbClr val="1B7F5C"/>
                </a:solidFill>
                <a:latin typeface="Aptos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hape"/>
          <p:cNvSpPr/>
          <p:nvPr/>
        </p:nvSpPr>
        <p:spPr>
          <a:xfrm>
            <a:off x="0" y="0"/>
            <a:ext cx="13333333" cy="7500000"/>
          </a:xfrm>
          <a:prstGeom prst="rect">
            <a:avLst/>
          </a:prstGeom>
          <a:solidFill>
            <a:srgbClr val="F7F4EA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Shape"/>
          <p:cNvSpPr/>
          <p:nvPr/>
        </p:nvSpPr>
        <p:spPr>
          <a:xfrm>
            <a:off x="0" y="0"/>
            <a:ext cx="245000" cy="7500000"/>
          </a:xfrm>
          <a:prstGeom prst="rect">
            <a:avLst/>
          </a:prstGeom>
          <a:solidFill>
            <a:srgbClr val="1B7F5C"/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Text"/>
          <p:cNvSpPr txBox="1"/>
          <p:nvPr/>
        </p:nvSpPr>
        <p:spPr>
          <a:xfrm>
            <a:off x="620000" y="410000"/>
            <a:ext cx="3600000" cy="26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lang="es-BO" sz="1350" dirty="0">
                <a:b/>
                <a:solidFill>
                  <a:srgbClr val="1B7F5C"/>
                </a:solidFill>
                <a:latin typeface="Aptos"/>
              </a:rPr>
              <a:t>ROADMAP</a:t>
            </a:r>
          </a:p>
        </p:txBody>
      </p:sp>
      <p:sp>
        <p:nvSpPr>
          <p:cNvPr id="14" name="Text"/>
          <p:cNvSpPr txBox="1"/>
          <p:nvPr/>
        </p:nvSpPr>
        <p:spPr>
          <a:xfrm>
            <a:off x="620000" y="760000"/>
            <a:ext cx="8250000" cy="126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lang="es-BO" sz="3450" dirty="0">
                <a:b/>
                <a:solidFill>
                  <a:srgbClr val="12372A"/>
                </a:solidFill>
                <a:latin typeface="Aptos"/>
              </a:rPr>
              <a:t>Expansion con deuda tecnica clara</a:t>
            </a:r>
          </a:p>
        </p:txBody>
      </p:sp>
      <p:sp>
        <p:nvSpPr>
          <p:cNvPr id="15" name="Text"/>
          <p:cNvSpPr txBox="1"/>
          <p:nvPr/>
        </p:nvSpPr>
        <p:spPr>
          <a:xfrm>
            <a:off x="630000" y="2140000"/>
            <a:ext cx="8350000" cy="62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lang="es-BO" sz="1850" dirty="0">
                <a:solidFill>
                  <a:srgbClr val="56635C"/>
                </a:solidFill>
                <a:latin typeface="Aptos"/>
              </a:rPr>
              <a:t>Lo grande queda como evolucion medible, no como promesa vaga.</a:t>
            </a:r>
          </a:p>
        </p:txBody>
      </p:sp>
      <p:sp>
        <p:nvSpPr>
          <p:cNvPr id="16" name="Shape"/>
          <p:cNvSpPr/>
          <p:nvPr/>
        </p:nvSpPr>
        <p:spPr>
          <a:xfrm>
            <a:off x="820000" y="3030000"/>
            <a:ext cx="3780000" cy="3220000"/>
          </a:xfrm>
          <a:prstGeom prst="roundRect">
            <a:avLst/>
          </a:prstGeom>
          <a:solidFill>
            <a:srgbClr val="FFFFFF"/>
          </a:solidFill>
          <a:ln w="10000">
            <a:solidFill>
              <a:srgbClr val="DDF6E8"/>
            </a:solidFill>
          </a:ln>
        </p:spPr>
        <p:txBody>
          <a:bodyPr/>
          <a:lstStyle/>
          <a:p/>
        </p:txBody>
      </p:sp>
      <p:sp>
        <p:nvSpPr>
          <p:cNvPr id="17" name="Text"/>
          <p:cNvSpPr txBox="1"/>
          <p:nvPr/>
        </p:nvSpPr>
        <p:spPr>
          <a:xfrm>
            <a:off x="1080000" y="3260000"/>
            <a:ext cx="3260000" cy="34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lang="es-BO" sz="2200" dirty="0">
                <a:b/>
                <a:solidFill>
                  <a:srgbClr val="1B7F5C"/>
                </a:solidFill>
                <a:latin typeface="Aptos"/>
              </a:rPr>
              <a:t>Corto plazo</a:t>
            </a:r>
          </a:p>
        </p:txBody>
      </p:sp>
      <p:sp>
        <p:nvSpPr>
          <p:cNvPr id="18" name="Shape"/>
          <p:cNvSpPr/>
          <p:nvPr/>
        </p:nvSpPr>
        <p:spPr>
          <a:xfrm>
            <a:off x="1120000" y="3802000"/>
            <a:ext cx="95000" cy="95000"/>
          </a:xfrm>
          <a:prstGeom prst="ellipse">
            <a:avLst/>
          </a:prstGeom>
          <a:solidFill>
            <a:srgbClr val="1B7F5C"/>
          </a:solidFill>
          <a:ln>
            <a:noFill/>
          </a:ln>
        </p:spPr>
        <p:txBody>
          <a:bodyPr/>
          <a:lstStyle/>
          <a:p/>
        </p:txBody>
      </p:sp>
      <p:sp>
        <p:nvSpPr>
          <p:cNvPr id="19" name="Text"/>
          <p:cNvSpPr txBox="1"/>
          <p:nvPr/>
        </p:nvSpPr>
        <p:spPr>
          <a:xfrm>
            <a:off x="1275000" y="3750000"/>
            <a:ext cx="3045000" cy="26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lang="es-BO" sz="2150" dirty="0">
                <a:solidFill>
                  <a:srgbClr val="17211B"/>
                </a:solidFill>
                <a:latin typeface="Aptos"/>
              </a:rPr>
              <a:t>Metricas historicas</a:t>
            </a:r>
          </a:p>
        </p:txBody>
      </p:sp>
      <p:sp>
        <p:nvSpPr>
          <p:cNvPr id="20" name="Shape"/>
          <p:cNvSpPr/>
          <p:nvPr/>
        </p:nvSpPr>
        <p:spPr>
          <a:xfrm>
            <a:off x="1120000" y="4187000"/>
            <a:ext cx="95000" cy="95000"/>
          </a:xfrm>
          <a:prstGeom prst="ellipse">
            <a:avLst/>
          </a:prstGeom>
          <a:solidFill>
            <a:srgbClr val="1B7F5C"/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Text"/>
          <p:cNvSpPr txBox="1"/>
          <p:nvPr/>
        </p:nvSpPr>
        <p:spPr>
          <a:xfrm>
            <a:off x="1275000" y="4135000"/>
            <a:ext cx="3045000" cy="26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lang="es-BO" sz="2150" dirty="0">
                <a:solidFill>
                  <a:srgbClr val="17211B"/>
                </a:solidFill>
                <a:latin typeface="Aptos"/>
              </a:rPr>
              <a:t>Fuentes relacionadas</a:t>
            </a:r>
          </a:p>
        </p:txBody>
      </p:sp>
      <p:sp>
        <p:nvSpPr>
          <p:cNvPr id="22" name="Shape"/>
          <p:cNvSpPr/>
          <p:nvPr/>
        </p:nvSpPr>
        <p:spPr>
          <a:xfrm>
            <a:off x="1120000" y="4572000"/>
            <a:ext cx="95000" cy="95000"/>
          </a:xfrm>
          <a:prstGeom prst="ellipse">
            <a:avLst/>
          </a:prstGeom>
          <a:solidFill>
            <a:srgbClr val="1B7F5C"/>
          </a:solidFill>
          <a:ln>
            <a:noFill/>
          </a:ln>
        </p:spPr>
        <p:txBody>
          <a:bodyPr/>
          <a:lstStyle/>
          <a:p/>
        </p:txBody>
      </p:sp>
      <p:sp>
        <p:nvSpPr>
          <p:cNvPr id="23" name="Text"/>
          <p:cNvSpPr txBox="1"/>
          <p:nvPr/>
        </p:nvSpPr>
        <p:spPr>
          <a:xfrm>
            <a:off x="1275000" y="4520000"/>
            <a:ext cx="3045000" cy="26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lang="es-BO" sz="2150" dirty="0">
                <a:solidFill>
                  <a:srgbClr val="17211B"/>
                </a:solidFill>
                <a:latin typeface="Aptos"/>
              </a:rPr>
              <a:t>Alertas de scraping</a:t>
            </a:r>
          </a:p>
        </p:txBody>
      </p:sp>
      <p:sp>
        <p:nvSpPr>
          <p:cNvPr id="24" name="Shape"/>
          <p:cNvSpPr/>
          <p:nvPr/>
        </p:nvSpPr>
        <p:spPr>
          <a:xfrm>
            <a:off x="1120000" y="4957000"/>
            <a:ext cx="95000" cy="95000"/>
          </a:xfrm>
          <a:prstGeom prst="ellipse">
            <a:avLst/>
          </a:prstGeom>
          <a:solidFill>
            <a:srgbClr val="1B7F5C"/>
          </a:solidFill>
          <a:ln>
            <a:noFill/>
          </a:ln>
        </p:spPr>
        <p:txBody>
          <a:bodyPr/>
          <a:lstStyle/>
          <a:p/>
        </p:txBody>
      </p:sp>
      <p:sp>
        <p:nvSpPr>
          <p:cNvPr id="25" name="Text"/>
          <p:cNvSpPr txBox="1"/>
          <p:nvPr/>
        </p:nvSpPr>
        <p:spPr>
          <a:xfrm>
            <a:off x="1275000" y="4905000"/>
            <a:ext cx="3045000" cy="26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lang="es-BO" sz="2150" dirty="0">
                <a:solidFill>
                  <a:srgbClr val="17211B"/>
                </a:solidFill>
                <a:latin typeface="Aptos"/>
              </a:rPr>
              <a:t>Scroll evitado</a:t>
            </a:r>
          </a:p>
        </p:txBody>
      </p:sp>
      <p:sp>
        <p:nvSpPr>
          <p:cNvPr id="26" name="Shape"/>
          <p:cNvSpPr/>
          <p:nvPr/>
        </p:nvSpPr>
        <p:spPr>
          <a:xfrm>
            <a:off x="4940000" y="3030000"/>
            <a:ext cx="3780000" cy="3220000"/>
          </a:xfrm>
          <a:prstGeom prst="roundRect">
            <a:avLst/>
          </a:prstGeom>
          <a:solidFill>
            <a:srgbClr val="FFFFFF"/>
          </a:solidFill>
          <a:ln w="10000">
            <a:solidFill>
              <a:srgbClr val="DDF6E8"/>
            </a:solidFill>
          </a:ln>
        </p:spPr>
        <p:txBody>
          <a:bodyPr/>
          <a:lstStyle/>
          <a:p/>
        </p:txBody>
      </p:sp>
      <p:sp>
        <p:nvSpPr>
          <p:cNvPr id="27" name="Text"/>
          <p:cNvSpPr txBox="1"/>
          <p:nvPr/>
        </p:nvSpPr>
        <p:spPr>
          <a:xfrm>
            <a:off x="5200000" y="3260000"/>
            <a:ext cx="3260000" cy="34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lang="es-BO" sz="2200" dirty="0">
                <a:b/>
                <a:solidFill>
                  <a:srgbClr val="1B7F5C"/>
                </a:solidFill>
                <a:latin typeface="Aptos"/>
              </a:rPr>
              <a:t>Mediano plazo</a:t>
            </a:r>
          </a:p>
        </p:txBody>
      </p:sp>
      <p:sp>
        <p:nvSpPr>
          <p:cNvPr id="28" name="Shape"/>
          <p:cNvSpPr/>
          <p:nvPr/>
        </p:nvSpPr>
        <p:spPr>
          <a:xfrm>
            <a:off x="5240000" y="3802000"/>
            <a:ext cx="95000" cy="95000"/>
          </a:xfrm>
          <a:prstGeom prst="ellipse">
            <a:avLst/>
          </a:prstGeom>
          <a:solidFill>
            <a:srgbClr val="1B7F5C"/>
          </a:solidFill>
          <a:ln>
            <a:noFill/>
          </a:ln>
        </p:spPr>
        <p:txBody>
          <a:bodyPr/>
          <a:lstStyle/>
          <a:p/>
        </p:txBody>
      </p:sp>
      <p:sp>
        <p:nvSpPr>
          <p:cNvPr id="29" name="Text"/>
          <p:cNvSpPr txBox="1"/>
          <p:nvPr/>
        </p:nvSpPr>
        <p:spPr>
          <a:xfrm>
            <a:off x="5395000" y="3750000"/>
            <a:ext cx="3045000" cy="26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lang="es-BO" sz="2150" dirty="0">
                <a:solidFill>
                  <a:srgbClr val="17211B"/>
                </a:solidFill>
                <a:latin typeface="Aptos"/>
              </a:rPr>
              <a:t>Bytes reales evitados</a:t>
            </a:r>
          </a:p>
        </p:txBody>
      </p:sp>
      <p:sp>
        <p:nvSpPr>
          <p:cNvPr id="30" name="Shape"/>
          <p:cNvSpPr/>
          <p:nvPr/>
        </p:nvSpPr>
        <p:spPr>
          <a:xfrm>
            <a:off x="5240000" y="4187000"/>
            <a:ext cx="95000" cy="95000"/>
          </a:xfrm>
          <a:prstGeom prst="ellipse">
            <a:avLst/>
          </a:prstGeom>
          <a:solidFill>
            <a:srgbClr val="1B7F5C"/>
          </a:solidFill>
          <a:ln>
            <a:noFill/>
          </a:ln>
        </p:spPr>
        <p:txBody>
          <a:bodyPr/>
          <a:lstStyle/>
          <a:p/>
        </p:txBody>
      </p:sp>
      <p:sp>
        <p:nvSpPr>
          <p:cNvPr id="31" name="Text"/>
          <p:cNvSpPr txBox="1"/>
          <p:nvPr/>
        </p:nvSpPr>
        <p:spPr>
          <a:xfrm>
            <a:off x="5395000" y="4135000"/>
            <a:ext cx="3045000" cy="26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lang="es-BO" sz="2150" dirty="0">
                <a:solidFill>
                  <a:srgbClr val="17211B"/>
                </a:solidFill>
                <a:latin typeface="Aptos"/>
              </a:rPr>
              <a:t>Telegram/WhatsApp productivo</a:t>
            </a:r>
          </a:p>
        </p:txBody>
      </p:sp>
      <p:sp>
        <p:nvSpPr>
          <p:cNvPr id="32" name="Shape"/>
          <p:cNvSpPr/>
          <p:nvPr/>
        </p:nvSpPr>
        <p:spPr>
          <a:xfrm>
            <a:off x="5240000" y="4572000"/>
            <a:ext cx="95000" cy="95000"/>
          </a:xfrm>
          <a:prstGeom prst="ellipse">
            <a:avLst/>
          </a:prstGeom>
          <a:solidFill>
            <a:srgbClr val="1B7F5C"/>
          </a:solidFill>
          <a:ln>
            <a:noFill/>
          </a:ln>
        </p:spPr>
        <p:txBody>
          <a:bodyPr/>
          <a:lstStyle/>
          <a:p/>
        </p:txBody>
      </p:sp>
      <p:sp>
        <p:nvSpPr>
          <p:cNvPr id="33" name="Text"/>
          <p:cNvSpPr txBox="1"/>
          <p:nvPr/>
        </p:nvSpPr>
        <p:spPr>
          <a:xfrm>
            <a:off x="5395000" y="4520000"/>
            <a:ext cx="3045000" cy="26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lang="es-BO" sz="2150" dirty="0">
                <a:solidFill>
                  <a:srgbClr val="17211B"/>
                </a:solidFill>
                <a:latin typeface="Aptos"/>
              </a:rPr>
              <a:t>Boletines del Estado</a:t>
            </a:r>
          </a:p>
        </p:txBody>
      </p:sp>
      <p:sp>
        <p:nvSpPr>
          <p:cNvPr id="34" name="Shape"/>
          <p:cNvSpPr/>
          <p:nvPr/>
        </p:nvSpPr>
        <p:spPr>
          <a:xfrm>
            <a:off x="9060000" y="3030000"/>
            <a:ext cx="3780000" cy="3220000"/>
          </a:xfrm>
          <a:prstGeom prst="roundRect">
            <a:avLst/>
          </a:prstGeom>
          <a:solidFill>
            <a:srgbClr val="FFFFFF"/>
          </a:solidFill>
          <a:ln w="10000">
            <a:solidFill>
              <a:srgbClr val="DDF6E8"/>
            </a:solidFill>
          </a:ln>
        </p:spPr>
        <p:txBody>
          <a:bodyPr/>
          <a:lstStyle/>
          <a:p/>
        </p:txBody>
      </p:sp>
      <p:sp>
        <p:nvSpPr>
          <p:cNvPr id="35" name="Text"/>
          <p:cNvSpPr txBox="1"/>
          <p:nvPr/>
        </p:nvSpPr>
        <p:spPr>
          <a:xfrm>
            <a:off x="9320000" y="3260000"/>
            <a:ext cx="3260000" cy="34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lang="es-BO" sz="2200" dirty="0">
                <a:b/>
                <a:solidFill>
                  <a:srgbClr val="1B7F5C"/>
                </a:solidFill>
                <a:latin typeface="Aptos"/>
              </a:rPr>
              <a:t>Largo plazo</a:t>
            </a:r>
          </a:p>
        </p:txBody>
      </p:sp>
      <p:sp>
        <p:nvSpPr>
          <p:cNvPr id="36" name="Shape"/>
          <p:cNvSpPr/>
          <p:nvPr/>
        </p:nvSpPr>
        <p:spPr>
          <a:xfrm>
            <a:off x="9360000" y="3802000"/>
            <a:ext cx="95000" cy="95000"/>
          </a:xfrm>
          <a:prstGeom prst="ellipse">
            <a:avLst/>
          </a:prstGeom>
          <a:solidFill>
            <a:srgbClr val="1B7F5C"/>
          </a:solidFill>
          <a:ln>
            <a:noFill/>
          </a:ln>
        </p:spPr>
        <p:txBody>
          <a:bodyPr/>
          <a:lstStyle/>
          <a:p/>
        </p:txBody>
      </p:sp>
      <p:sp>
        <p:nvSpPr>
          <p:cNvPr id="37" name="Text"/>
          <p:cNvSpPr txBox="1"/>
          <p:nvPr/>
        </p:nvSpPr>
        <p:spPr>
          <a:xfrm>
            <a:off x="9515000" y="3750000"/>
            <a:ext cx="3045000" cy="26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lang="es-BO" sz="2150" dirty="0">
                <a:solidFill>
                  <a:srgbClr val="17211B"/>
                </a:solidFill>
                <a:latin typeface="Aptos"/>
              </a:rPr>
              <a:t>Suscripciones pagas</a:t>
            </a:r>
          </a:p>
        </p:txBody>
      </p:sp>
      <p:sp>
        <p:nvSpPr>
          <p:cNvPr id="38" name="Shape"/>
          <p:cNvSpPr/>
          <p:nvPr/>
        </p:nvSpPr>
        <p:spPr>
          <a:xfrm>
            <a:off x="9360000" y="4187000"/>
            <a:ext cx="95000" cy="95000"/>
          </a:xfrm>
          <a:prstGeom prst="ellipse">
            <a:avLst/>
          </a:prstGeom>
          <a:solidFill>
            <a:srgbClr val="1B7F5C"/>
          </a:solidFill>
          <a:ln>
            <a:noFill/>
          </a:ln>
        </p:spPr>
        <p:txBody>
          <a:bodyPr/>
          <a:lstStyle/>
          <a:p/>
        </p:txBody>
      </p:sp>
      <p:sp>
        <p:nvSpPr>
          <p:cNvPr id="39" name="Text"/>
          <p:cNvSpPr txBox="1"/>
          <p:nvPr/>
        </p:nvSpPr>
        <p:spPr>
          <a:xfrm>
            <a:off x="9515000" y="4135000"/>
            <a:ext cx="3045000" cy="26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lang="es-BO" sz="2150" dirty="0">
                <a:solidFill>
                  <a:srgbClr val="17211B"/>
                </a:solidFill>
                <a:latin typeface="Aptos"/>
              </a:rPr>
              <a:t>Panel institucional</a:t>
            </a:r>
          </a:p>
        </p:txBody>
      </p:sp>
      <p:sp>
        <p:nvSpPr>
          <p:cNvPr id="40" name="Shape"/>
          <p:cNvSpPr/>
          <p:nvPr/>
        </p:nvSpPr>
        <p:spPr>
          <a:xfrm>
            <a:off x="9360000" y="4572000"/>
            <a:ext cx="95000" cy="95000"/>
          </a:xfrm>
          <a:prstGeom prst="ellipse">
            <a:avLst/>
          </a:prstGeom>
          <a:solidFill>
            <a:srgbClr val="1B7F5C"/>
          </a:solidFill>
          <a:ln>
            <a:noFill/>
          </a:ln>
        </p:spPr>
        <p:txBody>
          <a:bodyPr/>
          <a:lstStyle/>
          <a:p/>
        </p:txBody>
      </p:sp>
      <p:sp>
        <p:nvSpPr>
          <p:cNvPr id="41" name="Text"/>
          <p:cNvSpPr txBox="1"/>
          <p:nvPr/>
        </p:nvSpPr>
        <p:spPr>
          <a:xfrm>
            <a:off x="9515000" y="4520000"/>
            <a:ext cx="3045000" cy="26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lang="es-BO" sz="2150" dirty="0">
                <a:solidFill>
                  <a:srgbClr val="17211B"/>
                </a:solidFill>
                <a:latin typeface="Aptos"/>
              </a:rPr>
              <a:t>Alertas publicas</a:t>
            </a:r>
          </a:p>
        </p:txBody>
      </p:sp>
      <p:sp>
        <p:nvSpPr>
          <p:cNvPr id="42" name="Text"/>
          <p:cNvSpPr txBox="1"/>
          <p:nvPr/>
        </p:nvSpPr>
        <p:spPr>
          <a:xfrm>
            <a:off x="11940000" y="6930000"/>
            <a:ext cx="720000" cy="22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lang="es-BO" sz="1300" dirty="0">
                <a:b/>
                <a:solidFill>
                  <a:srgbClr val="1B7F5C"/>
                </a:solidFill>
                <a:latin typeface="Apto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hape"/>
          <p:cNvSpPr/>
          <p:nvPr/>
        </p:nvSpPr>
        <p:spPr>
          <a:xfrm>
            <a:off x="0" y="0"/>
            <a:ext cx="13333333" cy="7500000"/>
          </a:xfrm>
          <a:prstGeom prst="rect">
            <a:avLst/>
          </a:prstGeom>
          <a:solidFill>
            <a:srgbClr val="F7F4EA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Shape"/>
          <p:cNvSpPr/>
          <p:nvPr/>
        </p:nvSpPr>
        <p:spPr>
          <a:xfrm>
            <a:off x="0" y="0"/>
            <a:ext cx="245000" cy="7500000"/>
          </a:xfrm>
          <a:prstGeom prst="rect">
            <a:avLst/>
          </a:prstGeom>
          <a:solidFill>
            <a:srgbClr val="1B7F5C"/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Text"/>
          <p:cNvSpPr txBox="1"/>
          <p:nvPr/>
        </p:nvSpPr>
        <p:spPr>
          <a:xfrm>
            <a:off x="620000" y="410000"/>
            <a:ext cx="3600000" cy="26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lang="es-BO" sz="1350" dirty="0">
                <a:b/>
                <a:solidFill>
                  <a:srgbClr val="1B7F5C"/>
                </a:solidFill>
                <a:latin typeface="Aptos"/>
              </a:rPr>
              <a:t>CIERRE</a:t>
            </a:r>
          </a:p>
        </p:txBody>
      </p:sp>
      <p:sp>
        <p:nvSpPr>
          <p:cNvPr id="14" name="Text"/>
          <p:cNvSpPr txBox="1"/>
          <p:nvPr/>
        </p:nvSpPr>
        <p:spPr>
          <a:xfrm>
            <a:off x="620000" y="760000"/>
            <a:ext cx="8250000" cy="126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lang="es-BO" sz="3450" dirty="0">
                <a:b/>
                <a:solidFill>
                  <a:srgbClr val="12372A"/>
                </a:solidFill>
                <a:latin typeface="Aptos"/>
              </a:rPr>
              <a:t>IA para reducir, no para multiplicar ruido</a:t>
            </a:r>
          </a:p>
        </p:txBody>
      </p:sp>
      <p:sp>
        <p:nvSpPr>
          <p:cNvPr id="15" name="Text"/>
          <p:cNvSpPr txBox="1"/>
          <p:nvPr/>
        </p:nvSpPr>
        <p:spPr>
          <a:xfrm>
            <a:off x="630000" y="2140000"/>
            <a:ext cx="8350000" cy="62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lang="es-BO" sz="1850" dirty="0">
                <a:solidFill>
                  <a:srgbClr val="56635C"/>
                </a:solidFill>
                <a:latin typeface="Aptos"/>
              </a:rPr>
              <a:t>EcoBrief convierte informacion dispersa en briefs esenciales, medibles y de bajo costo.</a:t>
            </a:r>
          </a:p>
        </p:txBody>
      </p:sp>
      <p:sp>
        <p:nvSpPr>
          <p:cNvPr id="16" name="Shape"/>
          <p:cNvSpPr/>
          <p:nvPr/>
        </p:nvSpPr>
        <p:spPr>
          <a:xfrm>
            <a:off x="770000" y="3082000"/>
            <a:ext cx="95000" cy="95000"/>
          </a:xfrm>
          <a:prstGeom prst="ellipse">
            <a:avLst/>
          </a:prstGeom>
          <a:solidFill>
            <a:srgbClr val="1B7F5C"/>
          </a:solidFill>
          <a:ln>
            <a:noFill/>
          </a:ln>
        </p:spPr>
        <p:txBody>
          <a:bodyPr/>
          <a:lstStyle/>
          <a:p/>
        </p:txBody>
      </p:sp>
      <p:sp>
        <p:nvSpPr>
          <p:cNvPr id="17" name="Text"/>
          <p:cNvSpPr txBox="1"/>
          <p:nvPr/>
        </p:nvSpPr>
        <p:spPr>
          <a:xfrm>
            <a:off x="925000" y="3030000"/>
            <a:ext cx="6695000" cy="26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lang="es-BO" sz="2150" dirty="0">
                <a:solidFill>
                  <a:srgbClr val="17211B"/>
                </a:solidFill>
                <a:latin typeface="Aptos"/>
              </a:rPr>
              <a:t>Resuelve un problema cotidiano.</a:t>
            </a:r>
          </a:p>
        </p:txBody>
      </p:sp>
      <p:sp>
        <p:nvSpPr>
          <p:cNvPr id="18" name="Shape"/>
          <p:cNvSpPr/>
          <p:nvPr/>
        </p:nvSpPr>
        <p:spPr>
          <a:xfrm>
            <a:off x="770000" y="3467000"/>
            <a:ext cx="95000" cy="95000"/>
          </a:xfrm>
          <a:prstGeom prst="ellipse">
            <a:avLst/>
          </a:prstGeom>
          <a:solidFill>
            <a:srgbClr val="1B7F5C"/>
          </a:solidFill>
          <a:ln>
            <a:noFill/>
          </a:ln>
        </p:spPr>
        <p:txBody>
          <a:bodyPr/>
          <a:lstStyle/>
          <a:p/>
        </p:txBody>
      </p:sp>
      <p:sp>
        <p:nvSpPr>
          <p:cNvPr id="19" name="Text"/>
          <p:cNvSpPr txBox="1"/>
          <p:nvPr/>
        </p:nvSpPr>
        <p:spPr>
          <a:xfrm>
            <a:off x="925000" y="3415000"/>
            <a:ext cx="6695000" cy="26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lang="es-BO" sz="2150" dirty="0">
                <a:solidFill>
                  <a:srgbClr val="17211B"/>
                </a:solidFill>
                <a:latin typeface="Aptos"/>
              </a:rPr>
              <a:t>Encaja directamente con Green Tech.</a:t>
            </a:r>
          </a:p>
        </p:txBody>
      </p:sp>
      <p:sp>
        <p:nvSpPr>
          <p:cNvPr id="20" name="Shape"/>
          <p:cNvSpPr/>
          <p:nvPr/>
        </p:nvSpPr>
        <p:spPr>
          <a:xfrm>
            <a:off x="770000" y="3852000"/>
            <a:ext cx="95000" cy="95000"/>
          </a:xfrm>
          <a:prstGeom prst="ellipse">
            <a:avLst/>
          </a:prstGeom>
          <a:solidFill>
            <a:srgbClr val="1B7F5C"/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Text"/>
          <p:cNvSpPr txBox="1"/>
          <p:nvPr/>
        </p:nvSpPr>
        <p:spPr>
          <a:xfrm>
            <a:off x="925000" y="3800000"/>
            <a:ext cx="6695000" cy="26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lang="es-BO" sz="2150" dirty="0">
                <a:solidFill>
                  <a:srgbClr val="17211B"/>
                </a:solidFill>
                <a:latin typeface="Aptos"/>
              </a:rPr>
              <a:t>Tiene MVP funcional.</a:t>
            </a:r>
          </a:p>
        </p:txBody>
      </p:sp>
      <p:sp>
        <p:nvSpPr>
          <p:cNvPr id="22" name="Shape"/>
          <p:cNvSpPr/>
          <p:nvPr/>
        </p:nvSpPr>
        <p:spPr>
          <a:xfrm>
            <a:off x="770000" y="4237000"/>
            <a:ext cx="95000" cy="95000"/>
          </a:xfrm>
          <a:prstGeom prst="ellipse">
            <a:avLst/>
          </a:prstGeom>
          <a:solidFill>
            <a:srgbClr val="1B7F5C"/>
          </a:solidFill>
          <a:ln>
            <a:noFill/>
          </a:ln>
        </p:spPr>
        <p:txBody>
          <a:bodyPr/>
          <a:lstStyle/>
          <a:p/>
        </p:txBody>
      </p:sp>
      <p:sp>
        <p:nvSpPr>
          <p:cNvPr id="23" name="Text"/>
          <p:cNvSpPr txBox="1"/>
          <p:nvPr/>
        </p:nvSpPr>
        <p:spPr>
          <a:xfrm>
            <a:off x="925000" y="4185000"/>
            <a:ext cx="6695000" cy="26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lang="es-BO" sz="2150" dirty="0">
                <a:solidFill>
                  <a:srgbClr val="17211B"/>
                </a:solidFill>
                <a:latin typeface="Aptos"/>
              </a:rPr>
              <a:t>Puede escalar con costos controlados.</a:t>
            </a:r>
          </a:p>
        </p:txBody>
      </p:sp>
      <p:sp>
        <p:nvSpPr>
          <p:cNvPr id="24" name="Shape"/>
          <p:cNvSpPr/>
          <p:nvPr/>
        </p:nvSpPr>
        <p:spPr>
          <a:xfrm>
            <a:off x="770000" y="4622000"/>
            <a:ext cx="95000" cy="95000"/>
          </a:xfrm>
          <a:prstGeom prst="ellipse">
            <a:avLst/>
          </a:prstGeom>
          <a:solidFill>
            <a:srgbClr val="1B7F5C"/>
          </a:solidFill>
          <a:ln>
            <a:noFill/>
          </a:ln>
        </p:spPr>
        <p:txBody>
          <a:bodyPr/>
          <a:lstStyle/>
          <a:p/>
        </p:txBody>
      </p:sp>
      <p:sp>
        <p:nvSpPr>
          <p:cNvPr id="25" name="Text"/>
          <p:cNvSpPr txBox="1"/>
          <p:nvPr/>
        </p:nvSpPr>
        <p:spPr>
          <a:xfrm>
            <a:off x="925000" y="4570000"/>
            <a:ext cx="6695000" cy="26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lang="es-BO" sz="2150" dirty="0">
                <a:solidFill>
                  <a:srgbClr val="17211B"/>
                </a:solidFill>
                <a:latin typeface="Aptos"/>
              </a:rPr>
              <a:t>Convierte impacto digital en metricas visibles.</a:t>
            </a:r>
          </a:p>
        </p:txBody>
      </p:sp>
      <p:sp>
        <p:nvSpPr>
          <p:cNvPr id="26" name="Shape"/>
          <p:cNvSpPr/>
          <p:nvPr/>
        </p:nvSpPr>
        <p:spPr>
          <a:xfrm>
            <a:off x="8500000" y="5140000"/>
            <a:ext cx="3900000" cy="1150000"/>
          </a:xfrm>
          <a:prstGeom prst="roundRect">
            <a:avLst/>
          </a:prstGeom>
          <a:solidFill>
            <a:srgbClr val="123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27" name="Text"/>
          <p:cNvSpPr txBox="1"/>
          <p:nvPr/>
        </p:nvSpPr>
        <p:spPr>
          <a:xfrm>
            <a:off x="8790000" y="5400000"/>
            <a:ext cx="3320000" cy="54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"/>
            <a:r>
              <a:rPr lang="es-BO" sz="1950" dirty="0">
                <a:b/>
                <a:solidFill>
                  <a:srgbClr val="FFFFFF"/>
                </a:solidFill>
                <a:latin typeface="Aptos"/>
              </a:rPr>
              <a:t>Informacion esencial. IA responsable. Eficiencia digital desde Bolivia.</a:t>
            </a:r>
          </a:p>
        </p:txBody>
      </p:sp>
      <p:sp>
        <p:nvSpPr>
          <p:cNvPr id="28" name="Text"/>
          <p:cNvSpPr txBox="1"/>
          <p:nvPr/>
        </p:nvSpPr>
        <p:spPr>
          <a:xfrm>
            <a:off x="11940000" y="6930000"/>
            <a:ext cx="720000" cy="22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lang="es-BO" sz="1300" dirty="0">
                <a:b/>
                <a:solidFill>
                  <a:srgbClr val="1B7F5C"/>
                </a:solidFill>
                <a:latin typeface="Aptos"/>
              </a:rPr>
              <a:t>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coBrief">
  <a:themeElements>
    <a:clrScheme name="EcoBrief">
      <a:dk1>
        <a:srgbClr val="17211B"/>
      </a:dk1>
      <a:lt1>
        <a:srgbClr val="FFFFFF"/>
      </a:lt1>
      <a:dk2>
        <a:srgbClr val="12372A"/>
      </a:dk2>
      <a:lt2>
        <a:srgbClr val="F7F4EA"/>
      </a:lt2>
      <a:accent1>
        <a:srgbClr val="1B7F5C"/>
      </a:accent1>
      <a:accent2>
        <a:srgbClr val="B6E388"/>
      </a:accent2>
      <a:accent3>
        <a:srgbClr val="F2C14E"/>
      </a:accent3>
      <a:accent4>
        <a:srgbClr val="2D6CDF"/>
      </a:accent4>
      <a:accent5>
        <a:srgbClr val="DDF6E8"/>
      </a:accent5>
      <a:accent6>
        <a:srgbClr val="56635C"/>
      </a:accent6>
      <a:hlink>
        <a:srgbClr val="2D6CDF"/>
      </a:hlink>
      <a:folHlink>
        <a:srgbClr val="1B7F5C"/>
      </a:folHlink>
    </a:clrScheme>
    <a:fontScheme name="Aptos">
      <a:majorFont>
        <a:latin typeface="Aptos Display"/>
      </a:majorFont>
      <a:minorFont>
        <a:latin typeface="Aptos"/>
      </a:minorFont>
    </a:fontScheme>
    <a:fmtScheme name="EcoBrief">
      <a:fillStyleLst>
        <a:solidFill>
          <a:schemeClr val="phClr"/>
        </a:solidFill>
      </a:fillStyleLst>
      <a:lnStyleLst>
        <a:ln w="9525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EcoBrief PPTX Generator</Application>
  <PresentationFormat>Widescreen</PresentationFormat>
  <Slides>11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EcoBrief Bolivia - Green Tech Pitch</dc:title>
  <dc:creator>EcoBrief Bolivia</dc:creator>
  <cp:lastModifiedBy>EcoBrief Bolivia</cp:lastModifiedBy>
</cp:coreProperties>
</file>