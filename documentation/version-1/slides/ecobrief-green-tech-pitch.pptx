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3333333" cy="7500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Master" Target="slideMasters/slideMaster1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123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8850000" y="0"/>
            <a:ext cx="4483333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9240000" y="650000"/>
            <a:ext cx="2700000" cy="2700000"/>
          </a:xfrm>
          <a:prstGeom prst="ellipse">
            <a:avLst/>
          </a:prstGeom>
          <a:solidFill>
            <a:srgbClr val="B6E388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9850000" y="1250000"/>
            <a:ext cx="1500000" cy="1500000"/>
          </a:xfrm>
          <a:prstGeom prst="ellipse">
            <a:avLst/>
          </a:prstGeom>
          <a:solidFill>
            <a:srgbClr val="123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620000" y="550000"/>
            <a:ext cx="4300000" cy="3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400" dirty="0">
                <a:b/>
                <a:solidFill>
                  <a:srgbClr val="B6E388"/>
                </a:solidFill>
                <a:latin typeface="Aptos"/>
              </a:rPr>
              <a:t>GREEN TECH PITCH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620000" y="1150000"/>
            <a:ext cx="6700000" cy="9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5200" dirty="0">
                <a:b/>
                <a:solidFill>
                  <a:srgbClr val="FFFFFF"/>
                </a:solidFill>
                <a:latin typeface="Aptos"/>
              </a:rPr>
              <a:t>EcoBrief Bolivia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630000" y="2160000"/>
            <a:ext cx="6500000" cy="7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500" dirty="0">
                <a:solidFill>
                  <a:srgbClr val="DDF6E8"/>
                </a:solidFill>
                <a:latin typeface="Aptos"/>
              </a:rPr>
              <a:t>IA responsable para reducir desperdicio digital informativo</a:t>
            </a:r>
          </a:p>
        </p:txBody>
      </p:sp>
      <p:sp>
        <p:nvSpPr>
          <p:cNvPr id="18" name="Shape"/>
          <p:cNvSpPr/>
          <p:nvPr/>
        </p:nvSpPr>
        <p:spPr>
          <a:xfrm>
            <a:off x="660000" y="335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815000" y="3300000"/>
            <a:ext cx="57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FFFFFF"/>
                </a:solidFill>
                <a:latin typeface="Aptos"/>
              </a:rPr>
              <a:t>Menos paginas abiertas</a:t>
            </a:r>
          </a:p>
        </p:txBody>
      </p:sp>
      <p:sp>
        <p:nvSpPr>
          <p:cNvPr id="20" name="Shape"/>
          <p:cNvSpPr/>
          <p:nvPr/>
        </p:nvSpPr>
        <p:spPr>
          <a:xfrm>
            <a:off x="660000" y="373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815000" y="3685000"/>
            <a:ext cx="57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FFFFFF"/>
                </a:solidFill>
                <a:latin typeface="Aptos"/>
              </a:rPr>
              <a:t>Menos noticias duplicadas</a:t>
            </a:r>
          </a:p>
        </p:txBody>
      </p:sp>
      <p:sp>
        <p:nvSpPr>
          <p:cNvPr id="22" name="Shape"/>
          <p:cNvSpPr/>
          <p:nvPr/>
        </p:nvSpPr>
        <p:spPr>
          <a:xfrm>
            <a:off x="660000" y="412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15000" y="4070000"/>
            <a:ext cx="57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FFFFFF"/>
                </a:solidFill>
                <a:latin typeface="Aptos"/>
              </a:rPr>
              <a:t>Menos llamadas IA innecesarias</a:t>
            </a:r>
          </a:p>
        </p:txBody>
      </p:sp>
      <p:sp>
        <p:nvSpPr>
          <p:cNvPr id="24" name="Shape"/>
          <p:cNvSpPr/>
          <p:nvPr/>
        </p:nvSpPr>
        <p:spPr>
          <a:xfrm>
            <a:off x="660000" y="450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815000" y="4455000"/>
            <a:ext cx="57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FFFFFF"/>
                </a:solidFill>
                <a:latin typeface="Aptos"/>
              </a:rPr>
              <a:t>Mas informacion util y medible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20000" y="6780000"/>
            <a:ext cx="70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550" dirty="0">
                <a:solidFill>
                  <a:srgbClr val="DDF6E8"/>
                </a:solidFill>
                <a:latin typeface="Aptos"/>
              </a:rPr>
              <a:t>Josoe Ichuta, Ingenieria  |  Raquel Auza, Digital-Academy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PROBLEMA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Informarse consume mas recursos de los necesarios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El problema no es falta de informacion. Es exceso de informacion redundante.</a:t>
            </a:r>
          </a:p>
        </p:txBody>
      </p:sp>
      <p:sp>
        <p:nvSpPr>
          <p:cNvPr id="16" name="Shape"/>
          <p:cNvSpPr/>
          <p:nvPr/>
        </p:nvSpPr>
        <p:spPr>
          <a:xfrm>
            <a:off x="770000" y="270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925000" y="265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Una misma historia se repite en varios medios.</a:t>
            </a:r>
          </a:p>
        </p:txBody>
      </p:sp>
      <p:sp>
        <p:nvSpPr>
          <p:cNvPr id="18" name="Shape"/>
          <p:cNvSpPr/>
          <p:nvPr/>
        </p:nvSpPr>
        <p:spPr>
          <a:xfrm>
            <a:off x="770000" y="308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925000" y="303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El usuario abre multiples paginas para entender un hecho.</a:t>
            </a:r>
          </a:p>
        </p:txBody>
      </p:sp>
      <p:sp>
        <p:nvSpPr>
          <p:cNvPr id="20" name="Shape"/>
          <p:cNvSpPr/>
          <p:nvPr/>
        </p:nvSpPr>
        <p:spPr>
          <a:xfrm>
            <a:off x="770000" y="347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25000" y="342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Muchas personas buscan contexto en TikTok, Facebook u otros feeds.</a:t>
            </a:r>
          </a:p>
        </p:txBody>
      </p:sp>
      <p:sp>
        <p:nvSpPr>
          <p:cNvPr id="22" name="Shape"/>
          <p:cNvSpPr/>
          <p:nvPr/>
        </p:nvSpPr>
        <p:spPr>
          <a:xfrm>
            <a:off x="770000" y="385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25000" y="380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En redes, la informacion puede aparecer fragmentada o sin fuente clara.</a:t>
            </a:r>
          </a:p>
        </p:txBody>
      </p:sp>
      <p:sp>
        <p:nvSpPr>
          <p:cNvPr id="24" name="Shape"/>
          <p:cNvSpPr/>
          <p:nvPr/>
        </p:nvSpPr>
        <p:spPr>
          <a:xfrm>
            <a:off x="770000" y="424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25000" y="419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Cada pagina carga imagenes, scripts, publicidad y trackers.</a:t>
            </a:r>
          </a:p>
        </p:txBody>
      </p:sp>
      <p:sp>
        <p:nvSpPr>
          <p:cNvPr id="26" name="Shape"/>
          <p:cNvSpPr/>
          <p:nvPr/>
        </p:nvSpPr>
        <p:spPr>
          <a:xfrm>
            <a:off x="770000" y="462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25000" y="457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La IA desperdicia tokens si procesa contenido repetido.</a:t>
            </a:r>
          </a:p>
        </p:txBody>
      </p:sp>
      <p:sp>
        <p:nvSpPr>
          <p:cNvPr id="28" name="Shape"/>
          <p:cNvSpPr/>
          <p:nvPr/>
        </p:nvSpPr>
        <p:spPr>
          <a:xfrm>
            <a:off x="8500000" y="4920000"/>
            <a:ext cx="3900000" cy="1150000"/>
          </a:xfrm>
          <a:prstGeom prst="roundRect">
            <a:avLst/>
          </a:prstGeom>
          <a:solidFill>
            <a:srgbClr val="123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8790000" y="5180000"/>
            <a:ext cx="3320000" cy="54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050" dirty="0">
                <a:b/>
                <a:solidFill>
                  <a:srgbClr val="FFFFFF"/>
                </a:solidFill>
                <a:latin typeface="Aptos"/>
              </a:rPr>
              <a:t>Green Tech tambien es usar mejor software, datos, IA y cloud.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OPORTUNIDAD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De ruido digital a informacion esencial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EcoBrief crea una capa de eficiencia entre los medios locales y las personas.</a:t>
            </a:r>
          </a:p>
        </p:txBody>
      </p:sp>
      <p:sp>
        <p:nvSpPr>
          <p:cNvPr id="16" name="Shape"/>
          <p:cNvSpPr/>
          <p:nvPr/>
        </p:nvSpPr>
        <p:spPr>
          <a:xfrm>
            <a:off x="820000" y="2680000"/>
            <a:ext cx="495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1080000" y="2930000"/>
            <a:ext cx="443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Antes</a:t>
            </a:r>
          </a:p>
        </p:txBody>
      </p:sp>
      <p:sp>
        <p:nvSpPr>
          <p:cNvPr id="18" name="Shape"/>
          <p:cNvSpPr/>
          <p:nvPr/>
        </p:nvSpPr>
        <p:spPr>
          <a:xfrm>
            <a:off x="112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75000" y="346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Muchas paginas</a:t>
            </a:r>
          </a:p>
        </p:txBody>
      </p:sp>
      <p:sp>
        <p:nvSpPr>
          <p:cNvPr id="20" name="Shape"/>
          <p:cNvSpPr/>
          <p:nvPr/>
        </p:nvSpPr>
        <p:spPr>
          <a:xfrm>
            <a:off x="112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1275000" y="384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Noticias repetidas</a:t>
            </a:r>
          </a:p>
        </p:txBody>
      </p:sp>
      <p:sp>
        <p:nvSpPr>
          <p:cNvPr id="22" name="Shape"/>
          <p:cNvSpPr/>
          <p:nvPr/>
        </p:nvSpPr>
        <p:spPr>
          <a:xfrm>
            <a:off x="112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1275000" y="423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Scroll social</a:t>
            </a:r>
          </a:p>
        </p:txBody>
      </p:sp>
      <p:sp>
        <p:nvSpPr>
          <p:cNvPr id="24" name="Shape"/>
          <p:cNvSpPr/>
          <p:nvPr/>
        </p:nvSpPr>
        <p:spPr>
          <a:xfrm>
            <a:off x="1120000" y="466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1275000" y="461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Impacto invisible</a:t>
            </a:r>
          </a:p>
        </p:txBody>
      </p:sp>
      <p:sp>
        <p:nvSpPr>
          <p:cNvPr id="26" name="Shape"/>
          <p:cNvSpPr/>
          <p:nvPr/>
        </p:nvSpPr>
        <p:spPr>
          <a:xfrm>
            <a:off x="6110000" y="2680000"/>
            <a:ext cx="495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6370000" y="2930000"/>
            <a:ext cx="443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Con EcoBrief</a:t>
            </a:r>
          </a:p>
        </p:txBody>
      </p:sp>
      <p:sp>
        <p:nvSpPr>
          <p:cNvPr id="28" name="Shape"/>
          <p:cNvSpPr/>
          <p:nvPr/>
        </p:nvSpPr>
        <p:spPr>
          <a:xfrm>
            <a:off x="641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565000" y="346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Un brief priorizado</a:t>
            </a:r>
          </a:p>
        </p:txBody>
      </p:sp>
      <p:sp>
        <p:nvSpPr>
          <p:cNvPr id="30" name="Shape"/>
          <p:cNvSpPr/>
          <p:nvPr/>
        </p:nvSpPr>
        <p:spPr>
          <a:xfrm>
            <a:off x="641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6565000" y="384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Historias unicas</a:t>
            </a:r>
          </a:p>
        </p:txBody>
      </p:sp>
      <p:sp>
        <p:nvSpPr>
          <p:cNvPr id="32" name="Shape"/>
          <p:cNvSpPr/>
          <p:nvPr/>
        </p:nvSpPr>
        <p:spPr>
          <a:xfrm>
            <a:off x="641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6565000" y="423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Fuentes trazables</a:t>
            </a:r>
          </a:p>
        </p:txBody>
      </p:sp>
      <p:sp>
        <p:nvSpPr>
          <p:cNvPr id="34" name="Shape"/>
          <p:cNvSpPr/>
          <p:nvPr/>
        </p:nvSpPr>
        <p:spPr>
          <a:xfrm>
            <a:off x="6410000" y="466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6565000" y="461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Metricas de reduccion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SOLUCION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EcoBrief Bolivia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Una plataforma que recolecta, deduplica, prioriza y resume noticias locales con IA eficiente.</a:t>
            </a:r>
          </a:p>
        </p:txBody>
      </p:sp>
      <p:sp>
        <p:nvSpPr>
          <p:cNvPr id="16" name="Shape"/>
          <p:cNvSpPr/>
          <p:nvPr/>
        </p:nvSpPr>
        <p:spPr>
          <a:xfrm>
            <a:off x="770000" y="270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925000" y="265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Recolecta noticias de medios bolivianos.</a:t>
            </a:r>
          </a:p>
        </p:txBody>
      </p:sp>
      <p:sp>
        <p:nvSpPr>
          <p:cNvPr id="18" name="Shape"/>
          <p:cNvSpPr/>
          <p:nvPr/>
        </p:nvSpPr>
        <p:spPr>
          <a:xfrm>
            <a:off x="770000" y="308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925000" y="303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Extrae titulo, descripcion, cuerpo, fecha, fuente e imagen.</a:t>
            </a:r>
          </a:p>
        </p:txBody>
      </p:sp>
      <p:sp>
        <p:nvSpPr>
          <p:cNvPr id="20" name="Shape"/>
          <p:cNvSpPr/>
          <p:nvPr/>
        </p:nvSpPr>
        <p:spPr>
          <a:xfrm>
            <a:off x="770000" y="347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25000" y="342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Elimina duplicados y agrupa historias.</a:t>
            </a:r>
          </a:p>
        </p:txBody>
      </p:sp>
      <p:sp>
        <p:nvSpPr>
          <p:cNvPr id="22" name="Shape"/>
          <p:cNvSpPr/>
          <p:nvPr/>
        </p:nvSpPr>
        <p:spPr>
          <a:xfrm>
            <a:off x="770000" y="385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25000" y="380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Resume solo los articulos seleccionados.</a:t>
            </a:r>
          </a:p>
        </p:txBody>
      </p:sp>
      <p:sp>
        <p:nvSpPr>
          <p:cNvPr id="24" name="Shape"/>
          <p:cNvSpPr/>
          <p:nvPr/>
        </p:nvSpPr>
        <p:spPr>
          <a:xfrm>
            <a:off x="770000" y="424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25000" y="419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Mantiene enlace a fuentes originales identificadas.</a:t>
            </a:r>
          </a:p>
        </p:txBody>
      </p:sp>
      <p:sp>
        <p:nvSpPr>
          <p:cNvPr id="26" name="Shape"/>
          <p:cNvSpPr/>
          <p:nvPr/>
        </p:nvSpPr>
        <p:spPr>
          <a:xfrm>
            <a:off x="770000" y="462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25000" y="457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Entrega briefs por web y prepara distribucion personalizada.</a:t>
            </a:r>
          </a:p>
        </p:txBody>
      </p:sp>
      <p:sp>
        <p:nvSpPr>
          <p:cNvPr id="28" name="Shape"/>
          <p:cNvSpPr/>
          <p:nvPr/>
        </p:nvSpPr>
        <p:spPr>
          <a:xfrm>
            <a:off x="8500000" y="4920000"/>
            <a:ext cx="3900000" cy="1150000"/>
          </a:xfrm>
          <a:prstGeom prst="roundRect">
            <a:avLst/>
          </a:prstGeom>
          <a:solidFill>
            <a:srgbClr val="123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8790000" y="5180000"/>
            <a:ext cx="3320000" cy="54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050" dirty="0">
                <a:b/>
                <a:solidFill>
                  <a:srgbClr val="FFFFFF"/>
                </a:solidFill>
                <a:latin typeface="Aptos"/>
              </a:rPr>
              <a:t>La IA se usa despues de reducir el volumen, no antes.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PIPELINE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Primero reducimos, luego usamos IA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La eficiencia ocurre antes de llamar al modelo.</a:t>
            </a:r>
          </a:p>
        </p:txBody>
      </p:sp>
      <p:sp>
        <p:nvSpPr>
          <p:cNvPr id="16" name="Shape"/>
          <p:cNvSpPr/>
          <p:nvPr/>
        </p:nvSpPr>
        <p:spPr>
          <a:xfrm>
            <a:off x="72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1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Scraping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210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20" name="Shape"/>
          <p:cNvSpPr/>
          <p:nvPr/>
        </p:nvSpPr>
        <p:spPr>
          <a:xfrm>
            <a:off x="229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237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239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Limpieza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367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24" name="Shape"/>
          <p:cNvSpPr/>
          <p:nvPr/>
        </p:nvSpPr>
        <p:spPr>
          <a:xfrm>
            <a:off x="386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394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96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Validacion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524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28" name="Shape"/>
          <p:cNvSpPr/>
          <p:nvPr/>
        </p:nvSpPr>
        <p:spPr>
          <a:xfrm>
            <a:off x="543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551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4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553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Dedupe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81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32" name="Shape"/>
          <p:cNvSpPr/>
          <p:nvPr/>
        </p:nvSpPr>
        <p:spPr>
          <a:xfrm>
            <a:off x="700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708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5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10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Ranking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38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36" name="Shape"/>
          <p:cNvSpPr/>
          <p:nvPr/>
        </p:nvSpPr>
        <p:spPr>
          <a:xfrm>
            <a:off x="857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865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6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867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IA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995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40" name="Shape"/>
          <p:cNvSpPr/>
          <p:nvPr/>
        </p:nvSpPr>
        <p:spPr>
          <a:xfrm>
            <a:off x="1014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1022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7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1024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Brief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11520000" y="3270000"/>
            <a:ext cx="250000" cy="2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400" dirty="0">
                <a:b/>
                <a:solidFill>
                  <a:srgbClr val="1B7F5C"/>
                </a:solidFill>
                <a:latin typeface="Aptos"/>
              </a:rPr>
              <a:t>&gt;</a:t>
            </a:r>
          </a:p>
        </p:txBody>
      </p:sp>
      <p:sp>
        <p:nvSpPr>
          <p:cNvPr id="44" name="Shape"/>
          <p:cNvSpPr/>
          <p:nvPr/>
        </p:nvSpPr>
        <p:spPr>
          <a:xfrm>
            <a:off x="11710000" y="3020000"/>
            <a:ext cx="1350000" cy="76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45" name="Text"/>
          <p:cNvSpPr txBox="1"/>
          <p:nvPr/>
        </p:nvSpPr>
        <p:spPr>
          <a:xfrm>
            <a:off x="11790000" y="3155000"/>
            <a:ext cx="1190000" cy="1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B7F5C"/>
                </a:solidFill>
                <a:latin typeface="Aptos"/>
              </a:rPr>
              <a:t>8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11810000" y="3370000"/>
            <a:ext cx="1150000" cy="2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1650" dirty="0">
                <a:b/>
                <a:solidFill>
                  <a:srgbClr val="17211B"/>
                </a:solidFill>
                <a:latin typeface="Aptos"/>
              </a:rPr>
              <a:t>Impacto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PRODUCTO ACTUAL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MVP funcional, no solo una idea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Backend, frontend, base de datos, scraping real, IA y tests.</a:t>
            </a:r>
          </a:p>
        </p:txBody>
      </p:sp>
      <p:sp>
        <p:nvSpPr>
          <p:cNvPr id="16" name="Shape"/>
          <p:cNvSpPr/>
          <p:nvPr/>
        </p:nvSpPr>
        <p:spPr>
          <a:xfrm>
            <a:off x="770000" y="270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925000" y="265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Home con noticias destacadas y priorizadas.</a:t>
            </a:r>
          </a:p>
        </p:txBody>
      </p:sp>
      <p:sp>
        <p:nvSpPr>
          <p:cNvPr id="18" name="Shape"/>
          <p:cNvSpPr/>
          <p:nvPr/>
        </p:nvSpPr>
        <p:spPr>
          <a:xfrm>
            <a:off x="770000" y="308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925000" y="303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Listado y detalle de articulos recolectados.</a:t>
            </a:r>
          </a:p>
        </p:txBody>
      </p:sp>
      <p:sp>
        <p:nvSpPr>
          <p:cNvPr id="20" name="Shape"/>
          <p:cNvSpPr/>
          <p:nvPr/>
        </p:nvSpPr>
        <p:spPr>
          <a:xfrm>
            <a:off x="770000" y="347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25000" y="342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Pagina de impacto Green Tech.</a:t>
            </a:r>
          </a:p>
        </p:txBody>
      </p:sp>
      <p:sp>
        <p:nvSpPr>
          <p:cNvPr id="22" name="Shape"/>
          <p:cNvSpPr/>
          <p:nvPr/>
        </p:nvSpPr>
        <p:spPr>
          <a:xfrm>
            <a:off x="770000" y="385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25000" y="380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Suscripcion con categorias, canal y frecuencia.</a:t>
            </a:r>
          </a:p>
        </p:txBody>
      </p:sp>
      <p:sp>
        <p:nvSpPr>
          <p:cNvPr id="24" name="Shape"/>
          <p:cNvSpPr/>
          <p:nvPr/>
        </p:nvSpPr>
        <p:spPr>
          <a:xfrm>
            <a:off x="770000" y="424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25000" y="419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Endpoint manual para generar summaries.</a:t>
            </a:r>
          </a:p>
        </p:txBody>
      </p:sp>
      <p:sp>
        <p:nvSpPr>
          <p:cNvPr id="26" name="Shape"/>
          <p:cNvSpPr/>
          <p:nvPr/>
        </p:nvSpPr>
        <p:spPr>
          <a:xfrm>
            <a:off x="8250000" y="2600000"/>
            <a:ext cx="3950000" cy="26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B7F5C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8600000" y="3470000"/>
            <a:ext cx="3250000" cy="6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100" dirty="0">
                <a:b/>
                <a:solidFill>
                  <a:srgbClr val="56635C"/>
                </a:solidFill>
                <a:latin typeface="Aptos"/>
              </a:rPr>
              <a:t>Insertar captura: Home + Impacto + Suscripcion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IMPACTO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Impacto medible y transparente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El sistema mide reduccion operativa y estima ahorro digital de forma conservadora.</a:t>
            </a:r>
          </a:p>
        </p:txBody>
      </p:sp>
      <p:sp>
        <p:nvSpPr>
          <p:cNvPr id="16" name="Shape"/>
          <p:cNvSpPr/>
          <p:nvPr/>
        </p:nvSpPr>
        <p:spPr>
          <a:xfrm>
            <a:off x="820000" y="2680000"/>
            <a:ext cx="495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1080000" y="2930000"/>
            <a:ext cx="443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Metricas reales</a:t>
            </a:r>
          </a:p>
        </p:txBody>
      </p:sp>
      <p:sp>
        <p:nvSpPr>
          <p:cNvPr id="18" name="Shape"/>
          <p:cNvSpPr/>
          <p:nvPr/>
        </p:nvSpPr>
        <p:spPr>
          <a:xfrm>
            <a:off x="112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75000" y="346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Recolectadas</a:t>
            </a:r>
          </a:p>
        </p:txBody>
      </p:sp>
      <p:sp>
        <p:nvSpPr>
          <p:cNvPr id="20" name="Shape"/>
          <p:cNvSpPr/>
          <p:nvPr/>
        </p:nvSpPr>
        <p:spPr>
          <a:xfrm>
            <a:off x="112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1275000" y="384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Utiles</a:t>
            </a:r>
          </a:p>
        </p:txBody>
      </p:sp>
      <p:sp>
        <p:nvSpPr>
          <p:cNvPr id="22" name="Shape"/>
          <p:cNvSpPr/>
          <p:nvPr/>
        </p:nvSpPr>
        <p:spPr>
          <a:xfrm>
            <a:off x="112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1275000" y="423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Duplicadas</a:t>
            </a:r>
          </a:p>
        </p:txBody>
      </p:sp>
      <p:sp>
        <p:nvSpPr>
          <p:cNvPr id="24" name="Shape"/>
          <p:cNvSpPr/>
          <p:nvPr/>
        </p:nvSpPr>
        <p:spPr>
          <a:xfrm>
            <a:off x="1120000" y="466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1275000" y="461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Candidatas a IA</a:t>
            </a:r>
          </a:p>
        </p:txBody>
      </p:sp>
      <p:sp>
        <p:nvSpPr>
          <p:cNvPr id="26" name="Shape"/>
          <p:cNvSpPr/>
          <p:nvPr/>
        </p:nvSpPr>
        <p:spPr>
          <a:xfrm>
            <a:off x="1120000" y="505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1275000" y="500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Briefs</a:t>
            </a:r>
          </a:p>
        </p:txBody>
      </p:sp>
      <p:sp>
        <p:nvSpPr>
          <p:cNvPr id="28" name="Shape"/>
          <p:cNvSpPr/>
          <p:nvPr/>
        </p:nvSpPr>
        <p:spPr>
          <a:xfrm>
            <a:off x="1120000" y="543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1275000" y="538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Cache</a:t>
            </a:r>
          </a:p>
        </p:txBody>
      </p:sp>
      <p:sp>
        <p:nvSpPr>
          <p:cNvPr id="30" name="Shape"/>
          <p:cNvSpPr/>
          <p:nvPr/>
        </p:nvSpPr>
        <p:spPr>
          <a:xfrm>
            <a:off x="6110000" y="2680000"/>
            <a:ext cx="495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6370000" y="2930000"/>
            <a:ext cx="443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Metricas estimadas</a:t>
            </a:r>
          </a:p>
        </p:txBody>
      </p:sp>
      <p:sp>
        <p:nvSpPr>
          <p:cNvPr id="32" name="Shape"/>
          <p:cNvSpPr/>
          <p:nvPr/>
        </p:nvSpPr>
        <p:spPr>
          <a:xfrm>
            <a:off x="641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6565000" y="346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Paginas evitadas</a:t>
            </a:r>
          </a:p>
        </p:txBody>
      </p:sp>
      <p:sp>
        <p:nvSpPr>
          <p:cNvPr id="34" name="Shape"/>
          <p:cNvSpPr/>
          <p:nvPr/>
        </p:nvSpPr>
        <p:spPr>
          <a:xfrm>
            <a:off x="641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6565000" y="384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Minutos ahorrados</a:t>
            </a:r>
          </a:p>
        </p:txBody>
      </p:sp>
      <p:sp>
        <p:nvSpPr>
          <p:cNvPr id="36" name="Shape"/>
          <p:cNvSpPr/>
          <p:nvPr/>
        </p:nvSpPr>
        <p:spPr>
          <a:xfrm>
            <a:off x="641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6565000" y="423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MB no descargados</a:t>
            </a:r>
          </a:p>
        </p:txBody>
      </p:sp>
      <p:sp>
        <p:nvSpPr>
          <p:cNvPr id="38" name="Shape"/>
          <p:cNvSpPr/>
          <p:nvPr/>
        </p:nvSpPr>
        <p:spPr>
          <a:xfrm>
            <a:off x="6410000" y="466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6565000" y="4615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Llamadas IA evitadas</a:t>
            </a:r>
          </a:p>
        </p:txBody>
      </p:sp>
      <p:sp>
        <p:nvSpPr>
          <p:cNvPr id="40" name="Shape"/>
          <p:cNvSpPr/>
          <p:nvPr/>
        </p:nvSpPr>
        <p:spPr>
          <a:xfrm>
            <a:off x="6410000" y="505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6565000" y="5000000"/>
            <a:ext cx="421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Scroll evitado</a:t>
            </a:r>
          </a:p>
        </p:txBody>
      </p:sp>
      <p:sp>
        <p:nvSpPr>
          <p:cNvPr id="42" name="Shape"/>
          <p:cNvSpPr/>
          <p:nvPr/>
        </p:nvSpPr>
        <p:spPr>
          <a:xfrm>
            <a:off x="8500000" y="4920000"/>
            <a:ext cx="3900000" cy="1150000"/>
          </a:xfrm>
          <a:prstGeom prst="roundRect">
            <a:avLst/>
          </a:prstGeom>
          <a:solidFill>
            <a:srgbClr val="123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ext"/>
          <p:cNvSpPr txBox="1"/>
          <p:nvPr/>
        </p:nvSpPr>
        <p:spPr>
          <a:xfrm>
            <a:off x="8790000" y="5180000"/>
            <a:ext cx="3320000" cy="54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050" dirty="0">
                <a:b/>
                <a:solidFill>
                  <a:srgbClr val="FFFFFF"/>
                </a:solidFill>
                <a:latin typeface="Aptos"/>
              </a:rPr>
              <a:t>No prometemos medicion energetica directa todavia; mostramos reduccion verificable del flujo.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DIFERENCIADORES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Por que EcoBrief es competitivo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Combina Green Tech, producto funcional y bajo costo operativo.</a:t>
            </a:r>
          </a:p>
        </p:txBody>
      </p:sp>
      <p:sp>
        <p:nvSpPr>
          <p:cNvPr id="16" name="Shape"/>
          <p:cNvSpPr/>
          <p:nvPr/>
        </p:nvSpPr>
        <p:spPr>
          <a:xfrm>
            <a:off x="770000" y="270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925000" y="265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Reduce desperdicio digital, no solo resume noticias.</a:t>
            </a:r>
          </a:p>
        </p:txBody>
      </p:sp>
      <p:sp>
        <p:nvSpPr>
          <p:cNvPr id="18" name="Shape"/>
          <p:cNvSpPr/>
          <p:nvPr/>
        </p:nvSpPr>
        <p:spPr>
          <a:xfrm>
            <a:off x="770000" y="308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925000" y="303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Deduplica, rankea y cachea antes de usar IA.</a:t>
            </a:r>
          </a:p>
        </p:txBody>
      </p:sp>
      <p:sp>
        <p:nvSpPr>
          <p:cNvPr id="20" name="Shape"/>
          <p:cNvSpPr/>
          <p:nvPr/>
        </p:nvSpPr>
        <p:spPr>
          <a:xfrm>
            <a:off x="770000" y="347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25000" y="342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Muestra impacto con metricas visibles.</a:t>
            </a:r>
          </a:p>
        </p:txBody>
      </p:sp>
      <p:sp>
        <p:nvSpPr>
          <p:cNvPr id="22" name="Shape"/>
          <p:cNvSpPr/>
          <p:nvPr/>
        </p:nvSpPr>
        <p:spPr>
          <a:xfrm>
            <a:off x="770000" y="385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25000" y="380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Ofrece una alternativa trazable al consumo informativo en redes.</a:t>
            </a:r>
          </a:p>
        </p:txBody>
      </p:sp>
      <p:sp>
        <p:nvSpPr>
          <p:cNvPr id="24" name="Shape"/>
          <p:cNvSpPr/>
          <p:nvPr/>
        </p:nvSpPr>
        <p:spPr>
          <a:xfrm>
            <a:off x="770000" y="424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25000" y="419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Puede escalar a boletines oficiales y monitoreo institucional.</a:t>
            </a:r>
          </a:p>
        </p:txBody>
      </p:sp>
      <p:sp>
        <p:nvSpPr>
          <p:cNvPr id="26" name="Shape"/>
          <p:cNvSpPr/>
          <p:nvPr/>
        </p:nvSpPr>
        <p:spPr>
          <a:xfrm>
            <a:off x="770000" y="462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25000" y="457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Equipo interdepartamental con vision tecnica y educativa.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COSTOS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Modelo inicial de bajo costo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Un MVP sostenible puede operar con infraestructura simple y costos variables controlados.</a:t>
            </a:r>
          </a:p>
        </p:txBody>
      </p:sp>
      <p:sp>
        <p:nvSpPr>
          <p:cNvPr id="16" name="Shape"/>
          <p:cNvSpPr/>
          <p:nvPr/>
        </p:nvSpPr>
        <p:spPr>
          <a:xfrm>
            <a:off x="830000" y="2620000"/>
            <a:ext cx="735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1050000" y="2690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Servidor Hostinger KVM 2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000000" y="2690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USD 107.88/ano ref.</a:t>
            </a:r>
          </a:p>
        </p:txBody>
      </p:sp>
      <p:sp>
        <p:nvSpPr>
          <p:cNvPr id="19" name="Shape"/>
          <p:cNvSpPr/>
          <p:nvPr/>
        </p:nvSpPr>
        <p:spPr>
          <a:xfrm>
            <a:off x="830000" y="3065000"/>
            <a:ext cx="7350000" cy="340000"/>
          </a:xfrm>
          <a:prstGeom prst="rect">
            <a:avLst/>
          </a:prstGeom>
          <a:solidFill>
            <a:srgbClr val="DDF6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"/>
          <p:cNvSpPr txBox="1"/>
          <p:nvPr/>
        </p:nvSpPr>
        <p:spPr>
          <a:xfrm>
            <a:off x="1050000" y="3135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Dominio NIC Bolivia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00000" y="3135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55 Bs/ano</a:t>
            </a:r>
          </a:p>
        </p:txBody>
      </p:sp>
      <p:sp>
        <p:nvSpPr>
          <p:cNvPr id="22" name="Shape"/>
          <p:cNvSpPr/>
          <p:nvPr/>
        </p:nvSpPr>
        <p:spPr>
          <a:xfrm>
            <a:off x="830000" y="3510000"/>
            <a:ext cx="735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1050000" y="3580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BD + backend + frontend + cron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000000" y="3580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Incluido en VPS</a:t>
            </a:r>
          </a:p>
        </p:txBody>
      </p:sp>
      <p:sp>
        <p:nvSpPr>
          <p:cNvPr id="25" name="Shape"/>
          <p:cNvSpPr/>
          <p:nvPr/>
        </p:nvSpPr>
        <p:spPr>
          <a:xfrm>
            <a:off x="830000" y="3955000"/>
            <a:ext cx="7350000" cy="340000"/>
          </a:xfrm>
          <a:prstGeom prst="rect">
            <a:avLst/>
          </a:prstGeom>
          <a:solidFill>
            <a:srgbClr val="DDF6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1050000" y="4025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Email Gmail SMTP + App Password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000000" y="4025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Gratis con limites</a:t>
            </a:r>
          </a:p>
        </p:txBody>
      </p:sp>
      <p:sp>
        <p:nvSpPr>
          <p:cNvPr id="28" name="Shape"/>
          <p:cNvSpPr/>
          <p:nvPr/>
        </p:nvSpPr>
        <p:spPr>
          <a:xfrm>
            <a:off x="830000" y="4400000"/>
            <a:ext cx="7350000" cy="340000"/>
          </a:xfrm>
          <a:prstGeom prst="rect">
            <a:avLst/>
          </a:prstGeom>
          <a:solidFill>
            <a:srgbClr val="DDF6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1050000" y="4470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Telegram Bot API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00000" y="4470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Gratis</a:t>
            </a:r>
          </a:p>
        </p:txBody>
      </p:sp>
      <p:sp>
        <p:nvSpPr>
          <p:cNvPr id="31" name="Shape"/>
          <p:cNvSpPr/>
          <p:nvPr/>
        </p:nvSpPr>
        <p:spPr>
          <a:xfrm>
            <a:off x="830000" y="4845000"/>
            <a:ext cx="735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1050000" y="4915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WhatsApp Twilio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000000" y="4915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Piloto/opcional</a:t>
            </a:r>
          </a:p>
        </p:txBody>
      </p:sp>
      <p:sp>
        <p:nvSpPr>
          <p:cNvPr id="34" name="Shape"/>
          <p:cNvSpPr/>
          <p:nvPr/>
        </p:nvSpPr>
        <p:spPr>
          <a:xfrm>
            <a:off x="830000" y="5290000"/>
            <a:ext cx="7350000" cy="340000"/>
          </a:xfrm>
          <a:prstGeom prst="rect">
            <a:avLst/>
          </a:prstGeom>
          <a:solidFill>
            <a:srgbClr val="DDF6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1050000" y="5360000"/>
            <a:ext cx="4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700" dirty="0">
                <a:solidFill>
                  <a:srgbClr val="17211B"/>
                </a:solidFill>
                <a:latin typeface="Aptos"/>
              </a:rPr>
              <a:t>IA Groq API free tier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6000000" y="5360000"/>
            <a:ext cx="1900000" cy="1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700" dirty="0">
                <a:b/>
                <a:solidFill>
                  <a:srgbClr val="12372A"/>
                </a:solidFill>
                <a:latin typeface="Aptos"/>
              </a:rPr>
              <a:t>USD 0 en demo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ROADMAP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Expansion con deuda tecnica clara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Lo grande queda como evolucion medible, no como promesa vaga.</a:t>
            </a:r>
          </a:p>
        </p:txBody>
      </p:sp>
      <p:sp>
        <p:nvSpPr>
          <p:cNvPr id="16" name="Shape"/>
          <p:cNvSpPr/>
          <p:nvPr/>
        </p:nvSpPr>
        <p:spPr>
          <a:xfrm>
            <a:off x="820000" y="2680000"/>
            <a:ext cx="378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1080000" y="2930000"/>
            <a:ext cx="326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Corto plazo</a:t>
            </a:r>
          </a:p>
        </p:txBody>
      </p:sp>
      <p:sp>
        <p:nvSpPr>
          <p:cNvPr id="18" name="Shape"/>
          <p:cNvSpPr/>
          <p:nvPr/>
        </p:nvSpPr>
        <p:spPr>
          <a:xfrm>
            <a:off x="112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75000" y="3460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Metricas historicas</a:t>
            </a:r>
          </a:p>
        </p:txBody>
      </p:sp>
      <p:sp>
        <p:nvSpPr>
          <p:cNvPr id="20" name="Shape"/>
          <p:cNvSpPr/>
          <p:nvPr/>
        </p:nvSpPr>
        <p:spPr>
          <a:xfrm>
            <a:off x="112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1275000" y="3845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Fuentes relacionadas</a:t>
            </a:r>
          </a:p>
        </p:txBody>
      </p:sp>
      <p:sp>
        <p:nvSpPr>
          <p:cNvPr id="22" name="Shape"/>
          <p:cNvSpPr/>
          <p:nvPr/>
        </p:nvSpPr>
        <p:spPr>
          <a:xfrm>
            <a:off x="112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1275000" y="4230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Alertas de scraping</a:t>
            </a:r>
          </a:p>
        </p:txBody>
      </p:sp>
      <p:sp>
        <p:nvSpPr>
          <p:cNvPr id="24" name="Shape"/>
          <p:cNvSpPr/>
          <p:nvPr/>
        </p:nvSpPr>
        <p:spPr>
          <a:xfrm>
            <a:off x="1120000" y="466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1275000" y="4615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Scroll evitado</a:t>
            </a:r>
          </a:p>
        </p:txBody>
      </p:sp>
      <p:sp>
        <p:nvSpPr>
          <p:cNvPr id="26" name="Shape"/>
          <p:cNvSpPr/>
          <p:nvPr/>
        </p:nvSpPr>
        <p:spPr>
          <a:xfrm>
            <a:off x="4940000" y="2680000"/>
            <a:ext cx="378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5200000" y="2930000"/>
            <a:ext cx="326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Mediano plazo</a:t>
            </a:r>
          </a:p>
        </p:txBody>
      </p:sp>
      <p:sp>
        <p:nvSpPr>
          <p:cNvPr id="28" name="Shape"/>
          <p:cNvSpPr/>
          <p:nvPr/>
        </p:nvSpPr>
        <p:spPr>
          <a:xfrm>
            <a:off x="524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5395000" y="3460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Bytes reales evitados</a:t>
            </a:r>
          </a:p>
        </p:txBody>
      </p:sp>
      <p:sp>
        <p:nvSpPr>
          <p:cNvPr id="30" name="Shape"/>
          <p:cNvSpPr/>
          <p:nvPr/>
        </p:nvSpPr>
        <p:spPr>
          <a:xfrm>
            <a:off x="524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5395000" y="3845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Telegram/WhatsApp productivo</a:t>
            </a:r>
          </a:p>
        </p:txBody>
      </p:sp>
      <p:sp>
        <p:nvSpPr>
          <p:cNvPr id="32" name="Shape"/>
          <p:cNvSpPr/>
          <p:nvPr/>
        </p:nvSpPr>
        <p:spPr>
          <a:xfrm>
            <a:off x="524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5395000" y="4230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Boletines del Estado</a:t>
            </a:r>
          </a:p>
        </p:txBody>
      </p:sp>
      <p:sp>
        <p:nvSpPr>
          <p:cNvPr id="34" name="Shape"/>
          <p:cNvSpPr/>
          <p:nvPr/>
        </p:nvSpPr>
        <p:spPr>
          <a:xfrm>
            <a:off x="9060000" y="2680000"/>
            <a:ext cx="3780000" cy="352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DF6E8"/>
            </a:solidFill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9320000" y="2930000"/>
            <a:ext cx="3260000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300" dirty="0">
                <a:b/>
                <a:solidFill>
                  <a:srgbClr val="1B7F5C"/>
                </a:solidFill>
                <a:latin typeface="Aptos"/>
              </a:rPr>
              <a:t>Largo plazo</a:t>
            </a:r>
          </a:p>
        </p:txBody>
      </p:sp>
      <p:sp>
        <p:nvSpPr>
          <p:cNvPr id="36" name="Shape"/>
          <p:cNvSpPr/>
          <p:nvPr/>
        </p:nvSpPr>
        <p:spPr>
          <a:xfrm>
            <a:off x="9360000" y="351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9515000" y="3460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Suscripciones pagas</a:t>
            </a:r>
          </a:p>
        </p:txBody>
      </p:sp>
      <p:sp>
        <p:nvSpPr>
          <p:cNvPr id="38" name="Shape"/>
          <p:cNvSpPr/>
          <p:nvPr/>
        </p:nvSpPr>
        <p:spPr>
          <a:xfrm>
            <a:off x="9360000" y="389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9515000" y="3845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Panel institucional</a:t>
            </a:r>
          </a:p>
        </p:txBody>
      </p:sp>
      <p:sp>
        <p:nvSpPr>
          <p:cNvPr id="40" name="Shape"/>
          <p:cNvSpPr/>
          <p:nvPr/>
        </p:nvSpPr>
        <p:spPr>
          <a:xfrm>
            <a:off x="9360000" y="428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9515000" y="4230000"/>
            <a:ext cx="304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Alertas publicas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3333333" cy="7500000"/>
          </a:xfrm>
          <a:prstGeom prst="rect">
            <a:avLst/>
          </a:prstGeom>
          <a:solidFill>
            <a:srgbClr val="F7F4E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0" y="0"/>
            <a:ext cx="245000" cy="7500000"/>
          </a:xfrm>
          <a:prstGeom prst="rect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620000" y="410000"/>
            <a:ext cx="3600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350" dirty="0">
                <a:b/>
                <a:solidFill>
                  <a:srgbClr val="1B7F5C"/>
                </a:solidFill>
                <a:latin typeface="Aptos"/>
              </a:rPr>
              <a:t>CIERRE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20000" y="775000"/>
            <a:ext cx="7700000" cy="9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4050" dirty="0">
                <a:b/>
                <a:solidFill>
                  <a:srgbClr val="12372A"/>
                </a:solidFill>
                <a:latin typeface="Aptos"/>
              </a:rPr>
              <a:t>IA para reducir, no para multiplicar ruido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630000" y="1710000"/>
            <a:ext cx="7850000" cy="57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1950" dirty="0">
                <a:solidFill>
                  <a:srgbClr val="56635C"/>
                </a:solidFill>
                <a:latin typeface="Aptos"/>
              </a:rPr>
              <a:t>EcoBrief convierte informacion dispersa en briefs esenciales, medibles y de bajo costo.</a:t>
            </a:r>
          </a:p>
        </p:txBody>
      </p:sp>
      <p:sp>
        <p:nvSpPr>
          <p:cNvPr id="16" name="Shape"/>
          <p:cNvSpPr/>
          <p:nvPr/>
        </p:nvSpPr>
        <p:spPr>
          <a:xfrm>
            <a:off x="770000" y="270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925000" y="265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Resuelve un problema cotidiano.</a:t>
            </a:r>
          </a:p>
        </p:txBody>
      </p:sp>
      <p:sp>
        <p:nvSpPr>
          <p:cNvPr id="18" name="Shape"/>
          <p:cNvSpPr/>
          <p:nvPr/>
        </p:nvSpPr>
        <p:spPr>
          <a:xfrm>
            <a:off x="770000" y="308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925000" y="303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Encaja directamente con Green Tech.</a:t>
            </a:r>
          </a:p>
        </p:txBody>
      </p:sp>
      <p:sp>
        <p:nvSpPr>
          <p:cNvPr id="20" name="Shape"/>
          <p:cNvSpPr/>
          <p:nvPr/>
        </p:nvSpPr>
        <p:spPr>
          <a:xfrm>
            <a:off x="770000" y="347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25000" y="342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Tiene MVP funcional.</a:t>
            </a:r>
          </a:p>
        </p:txBody>
      </p:sp>
      <p:sp>
        <p:nvSpPr>
          <p:cNvPr id="22" name="Shape"/>
          <p:cNvSpPr/>
          <p:nvPr/>
        </p:nvSpPr>
        <p:spPr>
          <a:xfrm>
            <a:off x="770000" y="3857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25000" y="3805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Puede escalar con costos controlados.</a:t>
            </a:r>
          </a:p>
        </p:txBody>
      </p:sp>
      <p:sp>
        <p:nvSpPr>
          <p:cNvPr id="24" name="Shape"/>
          <p:cNvSpPr/>
          <p:nvPr/>
        </p:nvSpPr>
        <p:spPr>
          <a:xfrm>
            <a:off x="770000" y="4242000"/>
            <a:ext cx="95000" cy="95000"/>
          </a:xfrm>
          <a:prstGeom prst="ellipse">
            <a:avLst/>
          </a:prstGeom>
          <a:solidFill>
            <a:srgbClr val="1B7F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25000" y="4190000"/>
            <a:ext cx="6695000" cy="2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s-BO" sz="2150" dirty="0">
                <a:solidFill>
                  <a:srgbClr val="17211B"/>
                </a:solidFill>
                <a:latin typeface="Aptos"/>
              </a:rPr>
              <a:t>Convierte impacto digital en metricas visibles.</a:t>
            </a:r>
          </a:p>
        </p:txBody>
      </p:sp>
      <p:sp>
        <p:nvSpPr>
          <p:cNvPr id="26" name="Shape"/>
          <p:cNvSpPr/>
          <p:nvPr/>
        </p:nvSpPr>
        <p:spPr>
          <a:xfrm>
            <a:off x="8500000" y="4920000"/>
            <a:ext cx="3900000" cy="1150000"/>
          </a:xfrm>
          <a:prstGeom prst="roundRect">
            <a:avLst/>
          </a:prstGeom>
          <a:solidFill>
            <a:srgbClr val="123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8790000" y="5180000"/>
            <a:ext cx="3320000" cy="54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"/>
            <a:r>
              <a:rPr lang="es-BO" sz="2050" dirty="0">
                <a:b/>
                <a:solidFill>
                  <a:srgbClr val="FFFFFF"/>
                </a:solidFill>
                <a:latin typeface="Aptos"/>
              </a:rPr>
              <a:t>Informacion esencial. IA responsable. Eficiencia digital desde Bolivia.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1940000" y="6930000"/>
            <a:ext cx="720000" cy="2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lang="es-BO" sz="1300" dirty="0">
                <a:b/>
                <a:solidFill>
                  <a:srgbClr val="1B7F5C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Brief">
  <a:themeElements>
    <a:clrScheme name="EcoBrief">
      <a:dk1>
        <a:srgbClr val="17211B"/>
      </a:dk1>
      <a:lt1>
        <a:srgbClr val="FFFFFF"/>
      </a:lt1>
      <a:dk2>
        <a:srgbClr val="12372A"/>
      </a:dk2>
      <a:lt2>
        <a:srgbClr val="F7F4EA"/>
      </a:lt2>
      <a:accent1>
        <a:srgbClr val="1B7F5C"/>
      </a:accent1>
      <a:accent2>
        <a:srgbClr val="B6E388"/>
      </a:accent2>
      <a:accent3>
        <a:srgbClr val="F2C14E"/>
      </a:accent3>
      <a:accent4>
        <a:srgbClr val="2D6CDF"/>
      </a:accent4>
      <a:accent5>
        <a:srgbClr val="DDF6E8"/>
      </a:accent5>
      <a:accent6>
        <a:srgbClr val="56635C"/>
      </a:accent6>
      <a:hlink>
        <a:srgbClr val="2D6CDF"/>
      </a:hlink>
      <a:folHlink>
        <a:srgbClr val="1B7F5C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EcoBrief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EcoBrief PPTX Generator</Application>
  <PresentationFormat>Widescreen</PresentationFormat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EcoBrief Bolivia - Green Tech Pitch</dc:title>
  <dc:creator>EcoBrief Bolivia</dc:creator>
  <cp:lastModifiedBy>EcoBrief Bolivia</cp:lastModifiedBy>
</cp:coreProperties>
</file>